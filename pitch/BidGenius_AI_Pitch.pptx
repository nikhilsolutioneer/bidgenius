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[0:00–0:15] Speaker faces the jury, driver has the app ready on My workspace.
"BidGenius turns a 202-page tender into a price you can defend, line by line — and tells you exactly what it doesn't know yet."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[0:15–0:35] "This is the Oberglatt school ventilation tender: 202 pages of German, 679 line items. Page 9 says it plainly: no price negotiations. The first price is final. Today an estimator builds that price by hand — and one missed line can be the whole margin."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[0:35–0:50] "BidGenius does four things: it reads the whole tender, matches every line to your catalogue and labour rules, prices it with exact maths — the AI never sets a price — and lets the estimator defend every number. Let me show you." → SWITCH TO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— show for 3 seconds while the driver switches windows, or skip straight to the app.
Demo path (≈3:20): My workspace → open draft → Overview honest number → Estimate: LA02 p.113 insulation (Calculation, then Source) → LA02 p.110 scope ambiguity (choose "Install only" with a reason) → Scenarios: sensitivity + slider + apply with reason → Export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/ handout for the "honest number" demo beat.
"CHF 1’661’000 is priced and proven — 82% of the value. The rest is not hidden: a benchmark range of CHF 300k to CHF 628k, so the realistic full scope is CHF 2.01M to CHF 2.38M. And here is the to-do list, ranked by cause."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/ handout for the inspector demo beat.
"Take any line. 310 square metres of insulation: quantity from page 113, net price from your catalogue, labour from your productivity sheet — and the original page, highlighted. Nothing is a black box."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DEMO MOMENT — slow down, pause after the quote.
"Page 110 says: Nicht Bestandteil dieser Submission — not part of this tender. A product matcher would price it anyway. BidGenius stops and asks: include, install only, or exclude? That's the decision that protects your margin."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anchor: "How accurate is it?" → "On your 22 verified examples, 22 of 22. On 83 rows we transcribed by hand, it found 80 — and every quantity it found was right. Measured, and in the repo."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"An estimator opens BidGenius and sees their bids, the price, the gaps and the next decision — no training. If they're unsure, the copilot explains any number and links to the page it came from."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/ handout for the Scenarios demo beat.
"Before you sign, BidGenius tells you which assumption moves the price most. Change it, see all three bids move, give a reason — new revision."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[4:15–4:35] "It runs on a laptop today — and the same container runs on Azure Container Apps. The AI is optional and maps directly to Azure OpenAI in your own tenant. It fits the process you already have: estimator prepares, bid manager signs off, the offer and supplier requests go out."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[4:35–4:45] "Next: prove it on your past tenders and measure the time saved, connect your live catalogue and supplier quotes, then roll it out with Entra ID and a four-eyes sign-off."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[4:45–5:00] Say the line slowly, then stop talking.
"Equans doesn't need a faster way to produce a wrong number. It needs a price every estimator can defend. BidGenius turns a 202-page tender into a price you can defend, line by line — and tells you exactly what it doesn't know yet. Thank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if asked "What did you not build?" — each item is a deliberate safety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project project_f1acfeec34bc4fa4 at 2026-10-11T01:24:20.506Z. Re-run node pitch/build_deck.mjs after resetting the demo so these match the live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457200"/>
            <a:ext cx="6217920" cy="6217920"/>
          </a:xfrm>
          <a:prstGeom prst="ellipse">
            <a:avLst/>
          </a:prstGeom>
          <a:solidFill>
            <a:srgbClr val="00243A">
              <a:alpha val="0"/>
            </a:srgbClr>
          </a:solidFill>
          <a:ln w="15875">
            <a:solidFill>
              <a:srgbClr val="70BC9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280160"/>
            <a:ext cx="4572000" cy="4572000"/>
          </a:xfrm>
          <a:prstGeom prst="ellipse">
            <a:avLst/>
          </a:prstGeom>
          <a:solidFill>
            <a:srgbClr val="00243A">
              <a:alpha val="0"/>
            </a:srgbClr>
          </a:solidFill>
          <a:ln w="15875">
            <a:solidFill>
              <a:srgbClr val="70BC95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103120"/>
            <a:ext cx="2926080" cy="2926080"/>
          </a:xfrm>
          <a:prstGeom prst="ellipse">
            <a:avLst/>
          </a:prstGeom>
          <a:solidFill>
            <a:srgbClr val="00243A">
              <a:alpha val="0"/>
            </a:srgbClr>
          </a:solidFill>
          <a:ln w="15875">
            <a:solidFill>
              <a:srgbClr val="70BC95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1143000"/>
            <a:ext cx="128016" cy="128016"/>
          </a:xfrm>
          <a:prstGeom prst="ellipse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0" y="5303520"/>
            <a:ext cx="109728" cy="109728"/>
          </a:xfrm>
          <a:prstGeom prst="ellipse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SPRINTD ZÜRICH  ·  EQUANS CASE  ·  FROM TENDER TO PRICED OFFER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BidGenius </a:t>
            </a:r>
            <a:pPr indent="0" marL="0">
              <a:buNone/>
            </a:pPr>
            <a:r>
              <a:rPr lang="en-US" sz="720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number. Backed by evidence.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 202-page tender to a price an estimator can defend — line by line.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BidGenius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tender. 202 pages. One shot at the price.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F4F7F6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pages of German tender text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Schulhaus Oberglatt · BKP 244 ventilation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F4F7F6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116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679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466344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line items to quantify, match and price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read and priced by hand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F4F7F6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0116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836676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price negotiations after submission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66760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„1.17 Preisverhandlungen ausgeschlossen.“ — tender p. 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669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a low-margin business, one missed line is the margin.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Match. Price. Defend.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202/202 pages parsed on a laptop — a reviewable, priced draft in 55 seconds.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617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FEASIBILITY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27832" y="301752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429000" y="178308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2103120"/>
            <a:ext cx="457200" cy="457200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03320" y="3291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line linked to your catalogue and labour rules, with a visible confidence band.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4617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16752" y="301752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103120"/>
            <a:ext cx="457200" cy="457200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Price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92240" y="3291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CHF maths: quantity × net price × waste, plus hours × site factors × rate.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617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05672" y="301752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006840" y="178308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1160" y="2103120"/>
            <a:ext cx="457200" cy="457200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8116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Defend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281160" y="3291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opens its PDF page. Every change needs a reason and creates a revision.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81160" y="4617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56692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669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proposes. Deterministic maths prices. The estimator decides — every number.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"/>
            <a:ext cx="6217920" cy="6217920"/>
          </a:xfrm>
          <a:prstGeom prst="ellipse">
            <a:avLst/>
          </a:prstGeom>
          <a:solidFill>
            <a:srgbClr val="00243A">
              <a:alpha val="0"/>
            </a:srgbClr>
          </a:solidFill>
          <a:ln w="15875">
            <a:solidFill>
              <a:srgbClr val="70BC9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1143000"/>
            <a:ext cx="4572000" cy="4572000"/>
          </a:xfrm>
          <a:prstGeom prst="ellipse">
            <a:avLst/>
          </a:prstGeom>
          <a:solidFill>
            <a:srgbClr val="00243A">
              <a:alpha val="0"/>
            </a:srgbClr>
          </a:solidFill>
          <a:ln w="15875">
            <a:solidFill>
              <a:srgbClr val="70BC95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965960"/>
            <a:ext cx="2926080" cy="2926080"/>
          </a:xfrm>
          <a:prstGeom prst="ellipse">
            <a:avLst/>
          </a:prstGeom>
          <a:solidFill>
            <a:srgbClr val="00243A">
              <a:alpha val="0"/>
            </a:srgbClr>
          </a:solidFill>
          <a:ln w="15875">
            <a:solidFill>
              <a:srgbClr val="70BC95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3960" y="1005840"/>
            <a:ext cx="128016" cy="128016"/>
          </a:xfrm>
          <a:prstGeom prst="ellipse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0" y="5166360"/>
            <a:ext cx="109728" cy="109728"/>
          </a:xfrm>
          <a:prstGeom prst="ellipse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 three moments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560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honest number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priced and proven — and what is not, yet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611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page that says „Nicht Bestandteil dieser Submission“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4023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why BidGenius stops instead of pricing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548640" cy="548640"/>
          </a:xfrm>
          <a:prstGeom prst="ellipse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4663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assumption that moves the price most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8760" y="5074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previewed live, applied with a reason, reversible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 &amp; RELEVANCE  ·  30%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price an estimator would trust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CHF 1’661’000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included-scope offer · 82.1% of estimated value priced · 5.5% margin · before VAT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3124354" cy="384048"/>
          </a:xfrm>
          <a:prstGeom prst="rect">
            <a:avLst/>
          </a:prstGeom>
          <a:solidFill>
            <a:srgbClr val="277350"/>
          </a:solidFill>
          <a:ln w="12700">
            <a:solidFill>
              <a:srgbClr val="277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1866" y="3291840"/>
            <a:ext cx="619635" cy="384048"/>
          </a:xfrm>
          <a:prstGeom prst="rect">
            <a:avLst/>
          </a:prstGeom>
          <a:solidFill>
            <a:srgbClr val="70BC95">
              <a:alpha val="65000"/>
            </a:srgbClr>
          </a:solidFill>
          <a:ln w="12700">
            <a:solidFill>
              <a:srgbClr val="70BC9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8932" y="3291840"/>
            <a:ext cx="681708" cy="384048"/>
          </a:xfrm>
          <a:prstGeom prst="rect">
            <a:avLst/>
          </a:prstGeom>
          <a:solidFill>
            <a:srgbClr val="E8F5EE"/>
          </a:solidFill>
          <a:ln w="15875">
            <a:solidFill>
              <a:srgbClr val="70BC9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Priced &amp; proven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scope CHF 2.01M–CHF 2.38M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2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Unpriced scope: CHF 300k–CHF 628k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range — shown, never hidden inside the bid.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2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385 review items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ranked by cause, 205 supplier quote requests drafted.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41264" y="1746504"/>
            <a:ext cx="6062472" cy="145713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pic>
        <p:nvPicPr>
          <p:cNvPr id="16" name="Image 0" descr="C:\Users\WIN 10\Desktop\Equans Latest\pitch\shots\crops\overview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783080"/>
            <a:ext cx="5989320" cy="138398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541264" y="3404810"/>
            <a:ext cx="6062472" cy="552777"/>
          </a:xfrm>
          <a:prstGeom prst="roundRect">
            <a:avLst>
              <a:gd name="adj" fmla="val 9925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pic>
        <p:nvPicPr>
          <p:cNvPr id="18" name="Image 1" descr="C:\Users\WIN 10\Desktop\Equans Latest\pitch\shots\crops\overview_que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441386"/>
            <a:ext cx="5989320" cy="4796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77840" y="4241052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Most tools hand you a number. BidGenius hands you a number and its gaps.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TRACEABILITY  ·  20%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number links back to the tender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" y="1563624"/>
            <a:ext cx="3145961" cy="3959352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pic>
        <p:nvPicPr>
          <p:cNvPr id="7" name="Image 0" descr="C:\Users\WIN 10\Desktop\Equans Latest\pitch\shots\crops\inspector_c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3072809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954103"/>
            <a:ext cx="384048" cy="0"/>
          </a:xfrm>
          <a:prstGeom prst="line">
            <a:avLst/>
          </a:prstGeom>
          <a:noFill/>
          <a:ln w="19050">
            <a:solidFill>
              <a:srgbClr val="277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3780367"/>
            <a:ext cx="347472" cy="347472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378036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874303"/>
            <a:ext cx="384048" cy="0"/>
          </a:xfrm>
          <a:prstGeom prst="line">
            <a:avLst/>
          </a:prstGeom>
          <a:noFill/>
          <a:ln w="19050">
            <a:solidFill>
              <a:srgbClr val="277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" y="4700567"/>
            <a:ext cx="347472" cy="347472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8600" y="470056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07408" y="1664208"/>
            <a:ext cx="420624" cy="420624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07408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169164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Quantity → tender page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029200" y="21031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310 m² read from PDF page 113. One click opens the page with the source line highlighted.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407408" y="2926080"/>
            <a:ext cx="420624" cy="420624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7408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295351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Price → your catalogue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029200" y="3364992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P-INS-002 from catalog.csv, match band “Strong”. A pricing reference — technical equivalence stays a separate decision.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407408" y="4187952"/>
            <a:ext cx="420624" cy="420624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07408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0" y="421538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Labour → your productivity rules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029200" y="4626864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hours × site factors × role rate, unrounded hours, written out as a formula with its source rows.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6692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5669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same for all 679 positions — and every change records owner, reason and CHF effect, reversible.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TRACEABILITY  · 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knows when to stop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" y="1563624"/>
            <a:ext cx="3107471" cy="395935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pic>
        <p:nvPicPr>
          <p:cNvPr id="7" name="Image 0" descr="C:\Users\WIN 10\Desktop\Equans Latest\pitch\shots\crops\scope_p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3034319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7461" y="3628488"/>
            <a:ext cx="1480650" cy="210942"/>
          </a:xfrm>
          <a:prstGeom prst="roundRect">
            <a:avLst>
              <a:gd name="adj" fmla="val 17339"/>
            </a:avLst>
          </a:prstGeom>
          <a:solidFill>
            <a:srgbClr val="70BC95">
              <a:alpha val="0"/>
            </a:srgbClr>
          </a:solidFill>
          <a:ln w="28575">
            <a:solidFill>
              <a:srgbClr val="D982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691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„Nicht Bestandteil dieser Submission. Separate Ausschreibung.“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754880" y="2788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“Not part of this tender — tendered separately.”  Tender p. 110, repeated in every ventilation system.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4880" y="3520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2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 matcher would price it anyway. </a:t>
            </a:r>
            <a:pPr indent="0" marL="0">
              <a:buNone/>
            </a:pPr>
            <a:r>
              <a:rPr lang="en-US" sz="1700" dirty="0">
                <a:solidFill>
                  <a:srgbClr val="002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 holds 37 positions for the estimator’s decision: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754880" y="434340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4343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Include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20840" y="434340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4343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Install only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0" y="434340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0" y="4343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Exclude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54880" y="4937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each with a reason, a new revision and a visible CHF effect.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56692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5669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That decision is what protects the margin.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  ·  FEASIBILITY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Measured, not claimed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7F6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22/22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verified example positions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quantity, unit, catalogue item and system all correct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7F6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057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80/83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703320" y="3154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hand-checked hold-out rows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of detected quantities correct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7F6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057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202/202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tender pages processed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partial page flagged for visual review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06840" y="17830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7F6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057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55 s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281160" y="3154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a priced, reviewable draft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8116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parser, no AI calls, single laptop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artifacts/evaluation.json · artifacts/live-holdout-evaluation.json · docs/VALIDATION.md. Sampled evidence — not a claim of whole-tender completeness.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62356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62356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claim on this slide can be re-run from the repository.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&amp; USABILITY  ·  15%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Usable without training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" y="1655064"/>
            <a:ext cx="3502152" cy="1515509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pic>
        <p:nvPicPr>
          <p:cNvPr id="7" name="Image 0" descr="C:\Users\WIN 10\Desktop\Equans Latest\pitch\shots\crops\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429000" cy="144235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52544" y="1655064"/>
            <a:ext cx="3502152" cy="1514277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pic>
        <p:nvPicPr>
          <p:cNvPr id="9" name="Image 1" descr="C:\Users\WIN 10\Desktop\Equans Latest\pitch\shots\crops\overview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91640"/>
            <a:ext cx="3429000" cy="14411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93024" y="1655064"/>
            <a:ext cx="2400635" cy="3685032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pic>
        <p:nvPicPr>
          <p:cNvPr id="11" name="Image 2" descr="C:\Users\WIN 10\Desktop\Equans Latest\pitch\shots\crops\assista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91640"/>
            <a:ext cx="2327483" cy="3611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" y="3246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workspace: every bid and its state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389120" y="3246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Overview: price, gaps, next decision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77240" y="3886200"/>
            <a:ext cx="128016" cy="128016"/>
          </a:xfrm>
          <a:prstGeom prst="ellipse">
            <a:avLst/>
          </a:prstGeom>
          <a:solidFill>
            <a:srgbClr val="277350"/>
          </a:solidFill>
          <a:ln w="12700">
            <a:solidFill>
              <a:srgbClr val="27735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05840" y="37947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question per page 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· Estimate · Scenarios · Export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77240" y="4343400"/>
            <a:ext cx="128016" cy="128016"/>
          </a:xfrm>
          <a:prstGeom prst="ellipse">
            <a:avLst/>
          </a:prstGeom>
          <a:solidFill>
            <a:srgbClr val="277350"/>
          </a:solidFill>
          <a:ln w="12700">
            <a:solidFill>
              <a:srgbClr val="27735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05840" y="42519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queues by cause 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quantity, quote needed, scope ambiguity…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77240" y="4800600"/>
            <a:ext cx="128016" cy="128016"/>
          </a:xfrm>
          <a:prstGeom prst="ellipse">
            <a:avLst/>
          </a:prstGeom>
          <a:solidFill>
            <a:srgbClr val="277350"/>
          </a:solidFill>
          <a:ln w="12700">
            <a:solidFill>
              <a:srgbClr val="27735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5840" y="47091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Keyboard-first table 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j/k to move · Enter to inspect · a to accept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77240" y="5257800"/>
            <a:ext cx="128016" cy="128016"/>
          </a:xfrm>
          <a:prstGeom prst="ellipse">
            <a:avLst/>
          </a:prstGeom>
          <a:solidFill>
            <a:srgbClr val="277350"/>
          </a:solidFill>
          <a:ln w="12700">
            <a:solidFill>
              <a:srgbClr val="27735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05840" y="51663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copilot + 5-step tour 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cite positions and pages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40080" y="56692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68680" y="5669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Equans look and feel. German source text where estimators expect it. No manual needed.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CREATIVITY &amp; INNOVATION  ·  10%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ideas we haven’t seen in estimating tools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78424" y="1655064"/>
            <a:ext cx="5925312" cy="352174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pic>
        <p:nvPicPr>
          <p:cNvPr id="7" name="Image 0" descr="C:\Users\WIN 10\Desktop\Equans Latest\pitch\shots\crops\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691640"/>
            <a:ext cx="5852160" cy="344859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709928"/>
            <a:ext cx="420624" cy="420624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1737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honest range, not a hidden gap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25880" y="2148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Unpriced scope becomes a benchmark band of CHF 300k–628k next to the bid — never inside it.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85800" y="2944368"/>
            <a:ext cx="420624" cy="420624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71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“Which assumption moves the price?”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25880" y="3383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across site efficiency, overhead, margin and rates — check the right thing before signing.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85800" y="4178808"/>
            <a:ext cx="420624" cy="420624"/>
          </a:xfrm>
          <a:prstGeom prst="ellipse">
            <a:avLst/>
          </a:prstGeom>
          <a:solidFill>
            <a:srgbClr val="277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25880" y="4206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change is a revision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25880" y="4617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 live, apply with a reason, reverse anytime. The bid file explains itself.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6692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5669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Scenarios from your parameters: CHF 1’610’000 · 1’635’000 · 1’678’000 — odds labelled illustrative.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FEASIBILITY  ·  25%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Runs on Azure. Fits your bid process.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81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BID PROCESS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9397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Tender 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from the tender platform, original kept unchanged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82112" y="2532888"/>
            <a:ext cx="219456" cy="0"/>
          </a:xfrm>
          <a:prstGeom prst="line">
            <a:avLst/>
          </a:prstGeom>
          <a:noFill/>
          <a:ln w="25400">
            <a:solidFill>
              <a:srgbClr val="70BC9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19659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09397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Estimator review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514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queues, evidence, reasons, revisions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71032" y="2532888"/>
            <a:ext cx="219456" cy="0"/>
          </a:xfrm>
          <a:prstGeom prst="line">
            <a:avLst/>
          </a:prstGeom>
          <a:noFill/>
          <a:ln w="25400">
            <a:solidFill>
              <a:srgbClr val="70BC9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9659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09397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Bid manager sign-off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514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view: every bid, status, margin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59952" y="2532888"/>
            <a:ext cx="219456" cy="0"/>
          </a:xfrm>
          <a:prstGeom prst="line">
            <a:avLst/>
          </a:prstGeom>
          <a:noFill/>
          <a:ln w="25400">
            <a:solidFill>
              <a:srgbClr val="70BC9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06840" y="19659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09397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Offer + RFQs out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89720" y="2514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 draft offer, CSV/JSON, supplier requests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34107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AZURE — SAME CONTAINER AS TODAY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92277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Container Apps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43434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existing Docker image, single replica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182112" y="4361688"/>
            <a:ext cx="219456" cy="0"/>
          </a:xfrm>
          <a:prstGeom prst="line">
            <a:avLst/>
          </a:prstGeom>
          <a:noFill/>
          <a:ln w="25400">
            <a:solidFill>
              <a:srgbClr val="70BC9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29000" y="37947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92277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Files at /data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11880" y="43434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SQLite, originals, revisions, exports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71032" y="4361688"/>
            <a:ext cx="219456" cy="0"/>
          </a:xfrm>
          <a:prstGeom prst="line">
            <a:avLst/>
          </a:prstGeom>
          <a:noFill/>
          <a:ln w="25400">
            <a:solidFill>
              <a:srgbClr val="70BC9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17920" y="37947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92277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OpenAI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0800" y="43434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· store=false · bounded excerpts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59952" y="4361688"/>
            <a:ext cx="219456" cy="0"/>
          </a:xfrm>
          <a:prstGeom prst="line">
            <a:avLst/>
          </a:prstGeom>
          <a:noFill/>
          <a:ln w="25400">
            <a:solidFill>
              <a:srgbClr val="70BC9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06840" y="37947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392277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Entra ID + PostgreSQL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89720" y="43434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estimator &amp; management roles, multi-user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54406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54406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Runs offline on a laptop today. No integration needed — CSV/JSON into your calculation tool.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 TO PRODUCTION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prototype to pilot in 90 days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74720" cy="3429000"/>
          </a:xfrm>
          <a:prstGeom prst="roundRect">
            <a:avLst>
              <a:gd name="adj" fmla="val 2667"/>
            </a:avLst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Prove the value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0BC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40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on 5–10 past Equans tenders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721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0BC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40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time-to-draft vs. today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42885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0BC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400" dirty="0">
                <a:solidFill>
                  <a:srgbClr val="B9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Estimators score trust per position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34747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 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 your data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7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catalogue and net prices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721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7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quotes back into the bid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42885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7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bids to calibrate win odds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4747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90 DAYS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6676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it as a team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6676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7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 roles and four-eyes sign-off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3721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7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deployment with backups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6760" y="42885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7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Hand-over into the calculation system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6692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669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pipeline — coverage grows with your catalogue (prototype: 56 products, 22 labour rules).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554480"/>
            <a:ext cx="6217920" cy="6217920"/>
          </a:xfrm>
          <a:prstGeom prst="ellipse">
            <a:avLst/>
          </a:prstGeom>
          <a:solidFill>
            <a:srgbClr val="00243A">
              <a:alpha val="0"/>
            </a:srgbClr>
          </a:solidFill>
          <a:ln w="15875">
            <a:solidFill>
              <a:srgbClr val="70BC9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731520"/>
            <a:ext cx="4572000" cy="4572000"/>
          </a:xfrm>
          <a:prstGeom prst="ellipse">
            <a:avLst/>
          </a:prstGeom>
          <a:solidFill>
            <a:srgbClr val="00243A">
              <a:alpha val="0"/>
            </a:srgbClr>
          </a:solidFill>
          <a:ln w="15875">
            <a:solidFill>
              <a:srgbClr val="70BC95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2926080" cy="2926080"/>
          </a:xfrm>
          <a:prstGeom prst="ellipse">
            <a:avLst/>
          </a:prstGeom>
          <a:solidFill>
            <a:srgbClr val="00243A">
              <a:alpha val="0"/>
            </a:srgbClr>
          </a:solidFill>
          <a:ln w="15875">
            <a:solidFill>
              <a:srgbClr val="70BC95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-868680"/>
            <a:ext cx="128016" cy="128016"/>
          </a:xfrm>
          <a:prstGeom prst="ellipse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0" y="3291840"/>
            <a:ext cx="109728" cy="109728"/>
          </a:xfrm>
          <a:prstGeom prst="ellipse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91440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BidGenius turns a 202-page tender into a price you can defend — line by line — and tells you exactly what it doesn’t know yet.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A3550"/>
          </a:solidFill>
          <a:ln w="12700">
            <a:solidFill>
              <a:srgbClr val="70BC95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4343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 30%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4663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price with an honest range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26080" y="42062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A3550"/>
          </a:solidFill>
          <a:ln w="12700">
            <a:solidFill>
              <a:srgbClr val="70BC95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4343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FEASIBILITY 25%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90672" y="4663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container → Azure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640" y="42062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A3550"/>
          </a:solidFill>
          <a:ln w="12700">
            <a:solidFill>
              <a:srgbClr val="70BC95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4343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TRACEABILITY 20%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4663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CHF → its PDF page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0" y="42062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A3550"/>
          </a:solidFill>
          <a:ln w="12700">
            <a:solidFill>
              <a:srgbClr val="70BC95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4343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15%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79792" y="4663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pages, no training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09760" y="42062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A3550"/>
          </a:solidFill>
          <a:ln w="12700">
            <a:solidFill>
              <a:srgbClr val="70BC95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4343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0BC9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CREATIVITY 10%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74352" y="4663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Knows when to stop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B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BACKUP  ·  FOR Q&amp;A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 deliberately did not build — yet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64008" cy="621792"/>
          </a:xfrm>
          <a:prstGeom prst="rect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7335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OCR or drawing take-off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00253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Drawings and the Excel take-off are not in the package; missing quantities go to a queue instead of being guessed.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78024"/>
            <a:ext cx="64008" cy="621792"/>
          </a:xfrm>
          <a:prstGeom prst="rect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973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automatic technical approval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“Fabrikat z.B. … oder gleichwertig” stays an explicit estimator decision, separate from the pricing match.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64008" cy="621792"/>
          </a:xfrm>
          <a:prstGeom prst="rect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461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Nothing is sent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35753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RFQs and the German offer are drafts; formal submission stays with the bid team.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050792"/>
            <a:ext cx="64008" cy="621792"/>
          </a:xfrm>
          <a:prstGeom prst="rect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325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Illustrative win odds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436168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Heuristic from your project parameters until historical bids are imported and explicitly adopted.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37176"/>
            <a:ext cx="64008" cy="621792"/>
          </a:xfrm>
          <a:prstGeom prst="rect">
            <a:avLst/>
          </a:prstGeom>
          <a:solidFill>
            <a:srgbClr val="70BC95"/>
          </a:solidFill>
          <a:ln w="12700">
            <a:solidFill>
              <a:srgbClr val="70BC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81888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 login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" y="51480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switch for the demo; production uses Entra ID.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43A"/>
          </a:solidFill>
          <a:ln w="12700">
            <a:solidFill>
              <a:srgbClr val="0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773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BACKUP  ·  FOR Q&amp;A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4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number in this deck — and where it comes from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BidGenius</a:t>
            </a:r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 ·  Equans case  ·  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566160"/>
                <a:gridCol w="4206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Number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Value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Source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4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Included-scope offer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CHF 1’661’000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summary.totals.selling_price_chf (revision 1)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 baseline · margin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CHF 1’568’824 · 5.5%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summary.totals · project_parameters.json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 priced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82.1%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summary.completeness.pct_value_priced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Positions · priced · unpriced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679 · 112 · 542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summary.coverage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Unpriced benchmark range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CHF 299’902 – CHF 627’894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summary.completeness.allowance_*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Full-scope range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CHF 2’005’000 – CHF 2’382’000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summary.likely_total_low/high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Scope-ambiguity positions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summary.coverage.unresolved_by_cause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Scenarios A / T / 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CHF 1’610’000 / CHF 1’635’000 / CHF 1’678’000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summary.scenarios (2.5 / 4.0 / 6.5% margins)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Verified examples · hold-out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22/22 · 80/83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artifacts/evaluation.json · live-holdout-evaluation.json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 to priced draft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 s (parse 44 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4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docs/VALIDATION.md · evaluation.json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BidGenius AI — From tender to priced offer</dc:title>
  <dc:subject>PptxGenJS Presentation</dc:subject>
  <dc:creator>Team BidGenius</dc:creator>
  <cp:lastModifiedBy>Team BidGenius</cp:lastModifiedBy>
  <cp:revision>1</cp:revision>
  <dcterms:created xsi:type="dcterms:W3CDTF">2026-10-11T01:24:20Z</dcterms:created>
  <dcterms:modified xsi:type="dcterms:W3CDTF">2026-10-11T01:24:20Z</dcterms:modified>
</cp:coreProperties>
</file>