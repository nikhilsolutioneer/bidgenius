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first price you can explain
0:00–0:25
CUE: Explain the price
Imagine being asked to defend a tender price, line by line. Could you show where every number came from? We built BidGenius AI to help estimators reach a first price they can explain, with the source, the calculation, and the open questions together.
Start looking at the judges. Pause after the question, then say the product name slowly.
EVIDENCE / PRESENTER REFERENCE
Challenge: Schulhaus_Oberglatt_Hackathon_Starter_Package_v2/README.md. This is a prototype and first estimate, not a complete procurement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 pages, one pricing decision
0:25–0:50
CUE: Three jobs
Our case is a two-hundred-and-two-page ventilation tender for a school in Oberglatt, Switzerland. An estimator must understand the scope, connect it to catalogue references, and calculate installation labour. Those jobs are connected. Miss a quantity or misunderstand an exclusion, and the price can look precise while the underlying decision is wrong.
Point once to each of the three jobs. Do not read every label.
EVIDENCE / PRESENTER REFERENCE
Original tender, physical PDF page 9, section 1.17: Preisverhandlungen Ausgeschlossen. Source PDF has 202 pages. No claimed estimate of manual time or financial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match, calculate, review
0:50–1:20
CUE: People decide
This is a prepared snapshot of the working application. It reads the documents, proposes matches, calculates costs, and brings unresolved items into review. AI can help interpret the text and suggest references. The maths follows explicit rules. The estimator makes the decision. This overview shows the draft price and what still needs attention.
Point to the overview screenshot, then look back at the judges for the final two sentences.
EVIDENCE / PRESENTER REFERENCE
Screenshot: pitch/shots/overview.png, prepared demo revision 1. Indicative included-scope CHF 1,661,000; 542 unpriced positions remain in this snapshot. Snapshot is not live workspace state. Optional AI may propose; authoritative Decimal arithmetic is in backend/tenderproof/pricing.py. AI does not approve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price, see the proof
1:20–1:55
CUE: Follow one line
Take this insulation line from system L A zero two. Page one hundred and thirteen specifies three hundred and ten square metres. We can open that evidence, inspect catalogue reference P INS zero zero two, and follow the labour rule. That makes the cost explainable. The reference still needs review; it does not prove technical equivalence.
Move your pointer from source evidence to catalogue reference to labour. Say the quantities slowly.
EVIDENCE / PRESENTER REFERENCE
Source screenshot pitch/shots/inspector-calc.png: LA02 physical p.113 #2, 310 m², P-INS-002. Catalogue confirms 60 mm mineral wool duct insulation. Pricing confidence is not technical equivalence. Project factors and labour rules have their own source data, not necessarily the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Needs your decision
1:55–2:25
CUE: Read the exclusion
Now look at page one hundred and ten. A note flags scope for a separate tender, while nearby items can still carry installation obligations. The estimator must check which instruction applies. They can include a position, keep installation only, or exclude it. A reason and a new revision preserve how that decision changed the estimate.
Point to the German note, then to the three scope choices. Explain the ambiguity without implying everything on page 110 is excluded.
EVIDENCE / PRESENTER REFERENCE
Original PDF page 110: controls/regulation exclusion followed by field-device installation wording. This is ambiguous scope, not a claim that everything on the page must be excluded. Screenshot is a saved prototype view. Choices require estimator rationale and create a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bid before committing
2:25–2:50
CUE: Compare assumptions
Next, we compare aggressive, target, and conservative bids. The estimator can preview changes and see the effect on price, margin, and contribution before accepting them. The displayed win probabilities are illustrative assumptions. They help explore a decision, but they are not reliable predictions of winning.
Trace the three scenario cards with one gesture. Emphasize the word 'illustrative'.
EVIDENCE / PRESENTER REFERENCE
Prepared screenshot: bid scenarios CHF 1,610,000 / CHF 1,635,000 / CHF 1,678,000, requested margins 2.5% / 4.0% / 6.5%. Source project_parameters.json stretch_bid_optimization and pitch/shots/scenarios.png. Scenario margins differ from saved offer target margin of 5.5%. Win probabilities are heuristics, not calibrated predictions or a statistical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measured
2:50–3:40
CUE: Three separate checks
Here is the evidence, with the tests kept separate. One prepared local run produced a draft in about fifty-five seconds. It attempted all two hundred and two pages, with one partial page. A separate live run, combining AI and local fallbacks, found eighty of eighty-three sampled rows and their explicit quantities and units. That measures extraction on a selected sample, not pricing accuracy. The local checks also passed all twenty-two supplied examples. These results support a prototype; they do not prove a complete tender.
Slow down. Pause between the local run, live sample, and supplied examples. Do not read the decimal seconds aloud.
EVIDENCE / PRESENTER REFERENCE
55.035 s = artifacts/prepared-demo.json, local end-to-end import/draft. 22/22 = artifacts/evaluation.json supplied examples. 80/83 = artifacts/live-holdout-evaluation.json; frozen purposive sample from separate live mixed AI/local run. Latest live artifact records 38 successful AI batches and 15 fallbacks. Do not describe 55 seconds as live AI latency or 80/83 as price accuracy. No manual-review time saving was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the handover
3:40–4:05
CUE: Carry the evidence
The output is a reviewable handover. It includes source evidence, the cost build-up, unresolved scope, and draft exports tied to a specific revision. Another estimator can see what was included, what was assumed, and what still needs a decision.
Point to the handover items, then say the last sentence to the judges.
EVIDENCE / PRESENTER REFERENCE
README and backend/tenderproof/exports.py: pinned-revision CSV, JSON, German printable HTML and offline ZIP containing source PDF and review data. Supplier RFQs are unsent drafts. No automatic procurement submission. The review package is not a completed approved tender.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 value with estimators
4:05–4:35
CUE: Pilot, then measure
Our next step is a pilot with estimators using five to ten historical tenders. We would measure review time, corrections, and pricing coverage against their existing process. We also need real supplier quotes, authentication, and team collaboration. We have not measured return on investment yet. The pilot should tell us where the product creates value.
Present the pilot as a proposal. Keep your voice steady when naming the remaining work.
EVIDENCE / PRESENTER REFERENCE
Proposed pilot, not an agreed deployment or evidence of customer adoption. Current prototype is local/single estimator; organizational login, multiuser workflow and supplier integrations require further engineering and validation. 5–10 is an illustrative pilot scope chosen for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tender. See the gaps. Defend the price.
4:35–5:00
CUE: Make the ask
BidGenius AI brings the tender, the estimate, and the reasons behind it into one workspace. Read the tender. See the gaps. Defend the price. We are asking for an estimator partner and historical tenders to run that pilot. Thank you.
Look at the judges. Pause between the three short lines, make the ask, and stop after 'Thank you'.
EVIDENCE / PRESENTER REFERENCE
Stop here for the main presentation. Backup slides 11–13 are hidden and can be opened by slide number during Q&amp;A. No guarantee of winning the hackathon or measured ROI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matching slide in BidGenius_AI_Presenter_Guide. Main slides 1–10 total approximately five minutes.
EVIDENCE / PRESENTER REFERENCE
docs/ARCHITECTURE.md; backend modules. Current single-estimator local prototype. Optional OpenAI interpretation does not approve prices or technical equivalence. store=False is not a guarantee of zero retention. Azure deployment is not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matching slide in BidGenius_AI_Presenter_Guide. Main slides 1–10 total approximately five minutes.
EVIDENCE / PRESENTER REFERENCE
README known scope limits and docs/ARCHITECTURE.md. The supplied reference set has 56 catalogue rows and 22 installation rules. No OCR or drawing takeoff. Existing screenshots are a prepared R1 snapshot, not current live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matching slide in BidGenius_AI_Presenter_Guide. Main slides 1–10 total approximately five minutes.
EVIDENCE / PRESENTER REFERENCE
Use current JSON artifacts as the source of measurements. docs/VALIDATION.md contains older parser/live batch counts. Prepared-demo.json counted 137 priced before UI separated 112 priced and 25 included elsewhere; both correspond to 542 unpriced of 679 extracted. Deck avoids mixing these categories. Current running workspace has later revisions and can differ from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3D"/>
        </a:solidFill>
      </p:bgPr>
    </p:bg>
    <p:spTree>
      <p:nvGrpSpPr>
        <p:cNvPr id="1" name=""/>
        <p:cNvGrpSpPr/>
        <p:nvPr/>
      </p:nvGrpSpPr>
      <p:grpSpPr>
        <a:xfrm>
          <a:off x="0" y="0"/>
          <a:ext cx="0" cy="0"/>
          <a:chOff x="0" y="0"/>
          <a:chExt cx="0" cy="0"/>
        </a:xfrm>
      </p:grpSpPr>
      <p:sp>
        <p:nvSpPr>
          <p:cNvPr id="2" name="Text 0"/>
          <p:cNvSpPr/>
          <p:nvPr/>
        </p:nvSpPr>
        <p:spPr>
          <a:xfrm>
            <a:off x="658368" y="502920"/>
            <a:ext cx="9144000" cy="237744"/>
          </a:xfrm>
          <a:prstGeom prst="rect">
            <a:avLst/>
          </a:prstGeom>
          <a:noFill/>
          <a:ln/>
        </p:spPr>
        <p:txBody>
          <a:bodyPr wrap="square" lIns="0" tIns="0" rIns="0" bIns="0" rtlCol="0" anchor="ctr"/>
          <a:lstStyle/>
          <a:p>
            <a:pPr indent="0" marL="0">
              <a:buNone/>
            </a:pPr>
            <a:r>
              <a:rPr lang="en-US" sz="1100" spc="210" kern="0" dirty="0">
                <a:solidFill>
                  <a:srgbClr val="83D6B2"/>
                </a:solidFill>
                <a:latin typeface="Segoe UI Semibold" pitchFamily="34" charset="0"/>
                <a:ea typeface="Segoe UI Semibold" pitchFamily="34" charset="-122"/>
                <a:cs typeface="Segoe UI Semibold" pitchFamily="34" charset="-120"/>
              </a:rPr>
              <a:t>EQUANS CHALLENGE  /  WORKING PROTOTYPE</a:t>
            </a:r>
            <a:endParaRPr lang="en-US" sz="1100" dirty="0"/>
          </a:p>
        </p:txBody>
      </p:sp>
      <p:sp>
        <p:nvSpPr>
          <p:cNvPr id="3" name="Text 1"/>
          <p:cNvSpPr/>
          <p:nvPr/>
        </p:nvSpPr>
        <p:spPr>
          <a:xfrm>
            <a:off x="658368" y="1298448"/>
            <a:ext cx="6035040" cy="640080"/>
          </a:xfrm>
          <a:prstGeom prst="rect">
            <a:avLst/>
          </a:prstGeom>
          <a:noFill/>
          <a:ln/>
        </p:spPr>
        <p:txBody>
          <a:bodyPr wrap="square" lIns="0" tIns="0" rIns="0" bIns="0" rtlCol="0" anchor="ctr"/>
          <a:lstStyle/>
          <a:p>
            <a:pPr indent="0" marL="0">
              <a:buNone/>
            </a:pPr>
            <a:r>
              <a:rPr lang="en-US" sz="3200" dirty="0">
                <a:solidFill>
                  <a:srgbClr val="FFFFFF"/>
                </a:solidFill>
                <a:latin typeface="Segoe UI Semibold" pitchFamily="34" charset="0"/>
                <a:ea typeface="Segoe UI Semibold" pitchFamily="34" charset="-122"/>
                <a:cs typeface="Segoe UI Semibold" pitchFamily="34" charset="-120"/>
              </a:rPr>
              <a:t>BidGenius</a:t>
            </a:r>
            <a:endParaRPr lang="en-US" sz="3200" dirty="0"/>
          </a:p>
        </p:txBody>
      </p:sp>
      <p:sp>
        <p:nvSpPr>
          <p:cNvPr id="4" name="Shape 2"/>
          <p:cNvSpPr/>
          <p:nvPr/>
        </p:nvSpPr>
        <p:spPr>
          <a:xfrm>
            <a:off x="2944368" y="1490472"/>
            <a:ext cx="502920" cy="310896"/>
          </a:xfrm>
          <a:prstGeom prst="rect">
            <a:avLst/>
          </a:prstGeom>
          <a:solidFill>
            <a:srgbClr val="83D6B2"/>
          </a:solidFill>
          <a:ln w="12700">
            <a:solidFill>
              <a:srgbClr val="83D6B2">
                <a:alpha val="0"/>
              </a:srgbClr>
            </a:solidFill>
            <a:prstDash val="solid"/>
          </a:ln>
        </p:spPr>
      </p:sp>
      <p:sp>
        <p:nvSpPr>
          <p:cNvPr id="5" name="Text 3"/>
          <p:cNvSpPr/>
          <p:nvPr/>
        </p:nvSpPr>
        <p:spPr>
          <a:xfrm>
            <a:off x="3035808" y="1490472"/>
            <a:ext cx="320040" cy="310896"/>
          </a:xfrm>
          <a:prstGeom prst="rect">
            <a:avLst/>
          </a:prstGeom>
          <a:noFill/>
          <a:ln/>
        </p:spPr>
        <p:txBody>
          <a:bodyPr wrap="square" lIns="0" tIns="0" rIns="0" bIns="0" rtlCol="0" anchor="ctr"/>
          <a:lstStyle/>
          <a:p>
            <a:pPr algn="ctr" indent="0" marL="0">
              <a:buNone/>
            </a:pPr>
            <a:r>
              <a:rPr lang="en-US" sz="1050" dirty="0">
                <a:solidFill>
                  <a:srgbClr val="002B3D"/>
                </a:solidFill>
                <a:latin typeface="Segoe UI Semibold" pitchFamily="34" charset="0"/>
                <a:ea typeface="Segoe UI Semibold" pitchFamily="34" charset="-122"/>
                <a:cs typeface="Segoe UI Semibold" pitchFamily="34" charset="-120"/>
              </a:rPr>
              <a:t>AI</a:t>
            </a:r>
            <a:endParaRPr lang="en-US" sz="1050" dirty="0"/>
          </a:p>
        </p:txBody>
      </p:sp>
      <p:sp>
        <p:nvSpPr>
          <p:cNvPr id="6" name="Text 4"/>
          <p:cNvSpPr/>
          <p:nvPr/>
        </p:nvSpPr>
        <p:spPr>
          <a:xfrm>
            <a:off x="621792" y="2066544"/>
            <a:ext cx="7635240" cy="1874520"/>
          </a:xfrm>
          <a:prstGeom prst="rect">
            <a:avLst/>
          </a:prstGeom>
          <a:noFill/>
          <a:ln/>
        </p:spPr>
        <p:txBody>
          <a:bodyPr wrap="square" lIns="0" tIns="0" rIns="0" bIns="0" rtlCol="0" anchor="ctr"/>
          <a:lstStyle/>
          <a:p>
            <a:pPr indent="0" marL="0">
              <a:buNone/>
            </a:pPr>
            <a:r>
              <a:rPr lang="en-US" sz="5300" dirty="0">
                <a:solidFill>
                  <a:srgbClr val="FFFFFF"/>
                </a:solidFill>
                <a:latin typeface="Segoe UI Semibold" pitchFamily="34" charset="0"/>
                <a:ea typeface="Segoe UI Semibold" pitchFamily="34" charset="-122"/>
                <a:cs typeface="Segoe UI Semibold" pitchFamily="34" charset="-120"/>
              </a:rPr>
              <a:t>A first price.</a:t>
            </a:r>
            <a:endParaRPr lang="en-US" sz="5300" dirty="0"/>
          </a:p>
          <a:p>
            <a:pPr indent="0" marL="0">
              <a:buNone/>
            </a:pPr>
            <a:r>
              <a:rPr lang="en-US" sz="5300" dirty="0">
                <a:solidFill>
                  <a:srgbClr val="FFFFFF"/>
                </a:solidFill>
                <a:latin typeface="Segoe UI Semibold" pitchFamily="34" charset="0"/>
                <a:ea typeface="Segoe UI Semibold" pitchFamily="34" charset="-122"/>
                <a:cs typeface="Segoe UI Semibold" pitchFamily="34" charset="-120"/>
              </a:rPr>
              <a:t>You can explain.</a:t>
            </a:r>
            <a:endParaRPr lang="en-US" sz="5300" dirty="0"/>
          </a:p>
        </p:txBody>
      </p:sp>
      <p:sp>
        <p:nvSpPr>
          <p:cNvPr id="7" name="Text 5"/>
          <p:cNvSpPr/>
          <p:nvPr/>
        </p:nvSpPr>
        <p:spPr>
          <a:xfrm>
            <a:off x="694944" y="4270248"/>
            <a:ext cx="5943600" cy="704088"/>
          </a:xfrm>
          <a:prstGeom prst="rect">
            <a:avLst/>
          </a:prstGeom>
          <a:noFill/>
          <a:ln/>
        </p:spPr>
        <p:txBody>
          <a:bodyPr wrap="square" lIns="0" tIns="0" rIns="0" bIns="0" rtlCol="0" anchor="ctr"/>
          <a:lstStyle/>
          <a:p>
            <a:pPr indent="0" marL="0">
              <a:buNone/>
            </a:pPr>
            <a:r>
              <a:rPr lang="en-US" sz="2100" dirty="0">
                <a:solidFill>
                  <a:srgbClr val="B6CCD1"/>
                </a:solidFill>
                <a:latin typeface="Segoe UI" pitchFamily="34" charset="0"/>
                <a:ea typeface="Segoe UI" pitchFamily="34" charset="-122"/>
                <a:cs typeface="Segoe UI" pitchFamily="34" charset="-120"/>
              </a:rPr>
              <a:t>From a 202-page tender to a reviewable estimate.</a:t>
            </a:r>
            <a:endParaRPr lang="en-US" sz="2100" dirty="0"/>
          </a:p>
        </p:txBody>
      </p:sp>
      <p:sp>
        <p:nvSpPr>
          <p:cNvPr id="8" name="Shape 6"/>
          <p:cNvSpPr/>
          <p:nvPr/>
        </p:nvSpPr>
        <p:spPr>
          <a:xfrm>
            <a:off x="8321040" y="1527048"/>
            <a:ext cx="2862072" cy="3602736"/>
          </a:xfrm>
          <a:prstGeom prst="rect">
            <a:avLst/>
          </a:prstGeom>
          <a:solidFill>
            <a:srgbClr val="0A3C4C"/>
          </a:solidFill>
          <a:ln w="12700">
            <a:solidFill>
              <a:srgbClr val="0A3C4C">
                <a:alpha val="0"/>
              </a:srgbClr>
            </a:solidFill>
            <a:prstDash val="solid"/>
          </a:ln>
        </p:spPr>
      </p:sp>
      <p:sp>
        <p:nvSpPr>
          <p:cNvPr id="9" name="Shape 7"/>
          <p:cNvSpPr/>
          <p:nvPr/>
        </p:nvSpPr>
        <p:spPr>
          <a:xfrm>
            <a:off x="8083296" y="1783080"/>
            <a:ext cx="2862072" cy="3602736"/>
          </a:xfrm>
          <a:prstGeom prst="rect">
            <a:avLst/>
          </a:prstGeom>
          <a:solidFill>
            <a:srgbClr val="145063"/>
          </a:solidFill>
          <a:ln w="12700">
            <a:solidFill>
              <a:srgbClr val="145063">
                <a:alpha val="0"/>
              </a:srgbClr>
            </a:solidFill>
            <a:prstDash val="solid"/>
          </a:ln>
        </p:spPr>
      </p:sp>
      <p:sp>
        <p:nvSpPr>
          <p:cNvPr id="10" name="Shape 8"/>
          <p:cNvSpPr/>
          <p:nvPr/>
        </p:nvSpPr>
        <p:spPr>
          <a:xfrm>
            <a:off x="7836408" y="2029968"/>
            <a:ext cx="2862072" cy="3602736"/>
          </a:xfrm>
          <a:prstGeom prst="rect">
            <a:avLst/>
          </a:prstGeom>
          <a:solidFill>
            <a:srgbClr val="FFFFFF"/>
          </a:solidFill>
          <a:ln w="12700">
            <a:solidFill>
              <a:srgbClr val="FFFFFF">
                <a:alpha val="0"/>
              </a:srgbClr>
            </a:solidFill>
            <a:prstDash val="solid"/>
          </a:ln>
        </p:spPr>
      </p:sp>
      <p:sp>
        <p:nvSpPr>
          <p:cNvPr id="11" name="Text 9"/>
          <p:cNvSpPr/>
          <p:nvPr/>
        </p:nvSpPr>
        <p:spPr>
          <a:xfrm>
            <a:off x="8110728" y="2359152"/>
            <a:ext cx="201168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TENDER</a:t>
            </a:r>
            <a:endParaRPr lang="en-US" sz="1100" dirty="0"/>
          </a:p>
        </p:txBody>
      </p:sp>
      <p:sp>
        <p:nvSpPr>
          <p:cNvPr id="12" name="Text 10"/>
          <p:cNvSpPr/>
          <p:nvPr/>
        </p:nvSpPr>
        <p:spPr>
          <a:xfrm>
            <a:off x="8065008" y="2688336"/>
            <a:ext cx="2322576" cy="1097280"/>
          </a:xfrm>
          <a:prstGeom prst="rect">
            <a:avLst/>
          </a:prstGeom>
          <a:noFill/>
          <a:ln/>
        </p:spPr>
        <p:txBody>
          <a:bodyPr wrap="square" lIns="0" tIns="0" rIns="0" bIns="0" rtlCol="0" anchor="ctr"/>
          <a:lstStyle/>
          <a:p>
            <a:pPr indent="0" marL="0">
              <a:buNone/>
            </a:pPr>
            <a:r>
              <a:rPr lang="en-US" sz="7000" dirty="0">
                <a:solidFill>
                  <a:srgbClr val="002B3D"/>
                </a:solidFill>
                <a:latin typeface="Segoe UI Semibold" pitchFamily="34" charset="0"/>
                <a:ea typeface="Segoe UI Semibold" pitchFamily="34" charset="-122"/>
                <a:cs typeface="Segoe UI Semibold" pitchFamily="34" charset="-120"/>
              </a:rPr>
              <a:t>202</a:t>
            </a:r>
            <a:endParaRPr lang="en-US" sz="7000" dirty="0"/>
          </a:p>
        </p:txBody>
      </p:sp>
      <p:sp>
        <p:nvSpPr>
          <p:cNvPr id="13" name="Text 11"/>
          <p:cNvSpPr/>
          <p:nvPr/>
        </p:nvSpPr>
        <p:spPr>
          <a:xfrm>
            <a:off x="8147304" y="3858768"/>
            <a:ext cx="2048256" cy="493776"/>
          </a:xfrm>
          <a:prstGeom prst="rect">
            <a:avLst/>
          </a:prstGeom>
          <a:noFill/>
          <a:ln/>
        </p:spPr>
        <p:txBody>
          <a:bodyPr wrap="square" lIns="0" tIns="0" rIns="0" bIns="0" rtlCol="0" anchor="ctr"/>
          <a:lstStyle/>
          <a:p>
            <a:pPr indent="0" marL="0">
              <a:buNone/>
            </a:pPr>
            <a:r>
              <a:rPr lang="en-US" sz="1400" dirty="0">
                <a:solidFill>
                  <a:srgbClr val="536B76"/>
                </a:solidFill>
                <a:latin typeface="Segoe UI" pitchFamily="34" charset="0"/>
                <a:ea typeface="Segoe UI" pitchFamily="34" charset="-122"/>
                <a:cs typeface="Segoe UI" pitchFamily="34" charset="-120"/>
              </a:rPr>
              <a:t>pages of source evidence</a:t>
            </a:r>
            <a:endParaRPr lang="en-US" sz="1400" dirty="0"/>
          </a:p>
        </p:txBody>
      </p:sp>
      <p:sp>
        <p:nvSpPr>
          <p:cNvPr id="14" name="Shape 12"/>
          <p:cNvSpPr/>
          <p:nvPr/>
        </p:nvSpPr>
        <p:spPr>
          <a:xfrm>
            <a:off x="8147304" y="4553712"/>
            <a:ext cx="2148840" cy="0"/>
          </a:xfrm>
          <a:prstGeom prst="line">
            <a:avLst/>
          </a:prstGeom>
          <a:noFill/>
          <a:ln w="25400">
            <a:solidFill>
              <a:srgbClr val="D6E2DE"/>
            </a:solidFill>
            <a:prstDash val="solid"/>
          </a:ln>
        </p:spPr>
      </p:sp>
      <p:sp>
        <p:nvSpPr>
          <p:cNvPr id="15" name="Shape 13"/>
          <p:cNvSpPr/>
          <p:nvPr/>
        </p:nvSpPr>
        <p:spPr>
          <a:xfrm>
            <a:off x="8147304" y="4736592"/>
            <a:ext cx="2148840" cy="0"/>
          </a:xfrm>
          <a:prstGeom prst="line">
            <a:avLst/>
          </a:prstGeom>
          <a:noFill/>
          <a:ln w="25400">
            <a:solidFill>
              <a:srgbClr val="D6E2DE"/>
            </a:solidFill>
            <a:prstDash val="solid"/>
          </a:ln>
        </p:spPr>
      </p:sp>
      <p:sp>
        <p:nvSpPr>
          <p:cNvPr id="16" name="Shape 14"/>
          <p:cNvSpPr/>
          <p:nvPr/>
        </p:nvSpPr>
        <p:spPr>
          <a:xfrm>
            <a:off x="8147304" y="4919472"/>
            <a:ext cx="1417320" cy="0"/>
          </a:xfrm>
          <a:prstGeom prst="line">
            <a:avLst/>
          </a:prstGeom>
          <a:noFill/>
          <a:ln w="25400">
            <a:solidFill>
              <a:srgbClr val="D6E2DE"/>
            </a:solidFill>
            <a:prstDash val="solid"/>
          </a:ln>
        </p:spPr>
      </p:sp>
      <p:sp>
        <p:nvSpPr>
          <p:cNvPr id="17" name="Shape 15"/>
          <p:cNvSpPr/>
          <p:nvPr/>
        </p:nvSpPr>
        <p:spPr>
          <a:xfrm>
            <a:off x="8147304" y="5102352"/>
            <a:ext cx="2148840" cy="0"/>
          </a:xfrm>
          <a:prstGeom prst="line">
            <a:avLst/>
          </a:prstGeom>
          <a:noFill/>
          <a:ln w="25400">
            <a:solidFill>
              <a:srgbClr val="D6E2DE"/>
            </a:solidFill>
            <a:prstDash val="solid"/>
          </a:ln>
        </p:spPr>
      </p:sp>
      <p:sp>
        <p:nvSpPr>
          <p:cNvPr id="18" name="Shape 16"/>
          <p:cNvSpPr/>
          <p:nvPr/>
        </p:nvSpPr>
        <p:spPr>
          <a:xfrm>
            <a:off x="7251192" y="5276088"/>
            <a:ext cx="3858768" cy="566928"/>
          </a:xfrm>
          <a:prstGeom prst="rect">
            <a:avLst/>
          </a:prstGeom>
          <a:solidFill>
            <a:srgbClr val="83D6B2"/>
          </a:solidFill>
          <a:ln w="12700">
            <a:solidFill>
              <a:srgbClr val="83D6B2">
                <a:alpha val="0"/>
              </a:srgbClr>
            </a:solidFill>
            <a:prstDash val="solid"/>
          </a:ln>
        </p:spPr>
      </p:sp>
      <p:sp>
        <p:nvSpPr>
          <p:cNvPr id="19" name="Text 17"/>
          <p:cNvSpPr/>
          <p:nvPr/>
        </p:nvSpPr>
        <p:spPr>
          <a:xfrm>
            <a:off x="7452360" y="5276088"/>
            <a:ext cx="3474720" cy="566928"/>
          </a:xfrm>
          <a:prstGeom prst="rect">
            <a:avLst/>
          </a:prstGeom>
          <a:noFill/>
          <a:ln/>
        </p:spPr>
        <p:txBody>
          <a:bodyPr wrap="square" lIns="0" tIns="0" rIns="0" bIns="0" rtlCol="0" anchor="ctr"/>
          <a:lstStyle/>
          <a:p>
            <a:pPr indent="0" marL="0">
              <a:buNone/>
            </a:pPr>
            <a:r>
              <a:rPr lang="en-US" sz="1200" spc="80" kern="0" dirty="0">
                <a:solidFill>
                  <a:srgbClr val="002B3D"/>
                </a:solidFill>
                <a:latin typeface="Segoe UI Semibold" pitchFamily="34" charset="0"/>
                <a:ea typeface="Segoe UI Semibold" pitchFamily="34" charset="-122"/>
                <a:cs typeface="Segoe UI Semibold" pitchFamily="34" charset="-120"/>
              </a:rPr>
              <a:t>REVIEW  →  EXPLAIN  →  DECIDE</a:t>
            </a:r>
            <a:endParaRPr lang="en-US" sz="1200" dirty="0"/>
          </a:p>
        </p:txBody>
      </p:sp>
      <p:sp>
        <p:nvSpPr>
          <p:cNvPr id="20" name="Shape 18"/>
          <p:cNvSpPr/>
          <p:nvPr/>
        </p:nvSpPr>
        <p:spPr>
          <a:xfrm>
            <a:off x="548640" y="6455664"/>
            <a:ext cx="11091672" cy="0"/>
          </a:xfrm>
          <a:prstGeom prst="line">
            <a:avLst/>
          </a:prstGeom>
          <a:noFill/>
          <a:ln w="8255">
            <a:solidFill>
              <a:srgbClr val="0A3C4C"/>
            </a:solidFill>
            <a:prstDash val="solid"/>
          </a:ln>
        </p:spPr>
      </p:sp>
      <p:sp>
        <p:nvSpPr>
          <p:cNvPr id="21" name="Text 19"/>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B6CCD1"/>
                </a:solidFill>
                <a:latin typeface="Segoe UI" pitchFamily="34" charset="0"/>
                <a:ea typeface="Segoe UI" pitchFamily="34" charset="-122"/>
                <a:cs typeface="Segoe UI" pitchFamily="34" charset="-120"/>
              </a:rPr>
              <a:t>BidGenius AI  /  Equans challenge</a:t>
            </a:r>
            <a:endParaRPr lang="en-US" sz="900" dirty="0"/>
          </a:p>
        </p:txBody>
      </p:sp>
      <p:sp>
        <p:nvSpPr>
          <p:cNvPr id="22" name="Text 20"/>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B6CCD1"/>
                </a:solidFill>
                <a:latin typeface="Segoe UI" pitchFamily="34" charset="0"/>
                <a:ea typeface="Segoe UI" pitchFamily="34" charset="-122"/>
                <a:cs typeface="Segoe UI" pitchFamily="34" charset="-120"/>
              </a:rPr>
              <a:t>01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THE PROBLEM</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002B3D"/>
                </a:solidFill>
                <a:latin typeface="Segoe UI Semibold" pitchFamily="34" charset="0"/>
                <a:ea typeface="Segoe UI Semibold" pitchFamily="34" charset="-122"/>
                <a:cs typeface="Segoe UI Semibold" pitchFamily="34" charset="-120"/>
              </a:rPr>
              <a:t>202 pages. One pricing decision.</a:t>
            </a:r>
            <a:endParaRPr lang="en-US" sz="3500" dirty="0"/>
          </a:p>
        </p:txBody>
      </p:sp>
      <p:sp>
        <p:nvSpPr>
          <p:cNvPr id="4" name="Shape 2"/>
          <p:cNvSpPr/>
          <p:nvPr/>
        </p:nvSpPr>
        <p:spPr>
          <a:xfrm>
            <a:off x="548640" y="6455664"/>
            <a:ext cx="11091672" cy="0"/>
          </a:xfrm>
          <a:prstGeom prst="line">
            <a:avLst/>
          </a:prstGeom>
          <a:noFill/>
          <a:ln w="8255">
            <a:solidFill>
              <a:srgbClr val="D6E2DE"/>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536B76"/>
                </a:solidFill>
                <a:latin typeface="Segoe UI" pitchFamily="34" charset="0"/>
                <a:ea typeface="Segoe UI" pitchFamily="34" charset="-122"/>
                <a:cs typeface="Segoe UI" pitchFamily="34" charset="-120"/>
              </a:rPr>
              <a:t>02  /  10</a:t>
            </a:r>
            <a:endParaRPr lang="en-US" sz="900" dirty="0"/>
          </a:p>
        </p:txBody>
      </p:sp>
      <p:sp>
        <p:nvSpPr>
          <p:cNvPr id="7" name="Text 5"/>
          <p:cNvSpPr/>
          <p:nvPr/>
        </p:nvSpPr>
        <p:spPr>
          <a:xfrm>
            <a:off x="566928" y="1783080"/>
            <a:ext cx="4709160" cy="1965960"/>
          </a:xfrm>
          <a:prstGeom prst="rect">
            <a:avLst/>
          </a:prstGeom>
          <a:noFill/>
          <a:ln/>
        </p:spPr>
        <p:txBody>
          <a:bodyPr wrap="square" lIns="0" tIns="0" rIns="0" bIns="0" rtlCol="0" anchor="ctr"/>
          <a:lstStyle/>
          <a:p>
            <a:pPr indent="0" marL="0">
              <a:buNone/>
            </a:pPr>
            <a:r>
              <a:rPr lang="en-US" sz="12600" dirty="0">
                <a:solidFill>
                  <a:srgbClr val="002B3D"/>
                </a:solidFill>
                <a:latin typeface="Segoe UI Semibold" pitchFamily="34" charset="0"/>
                <a:ea typeface="Segoe UI Semibold" pitchFamily="34" charset="-122"/>
                <a:cs typeface="Segoe UI Semibold" pitchFamily="34" charset="-120"/>
              </a:rPr>
              <a:t>202</a:t>
            </a:r>
            <a:endParaRPr lang="en-US" sz="12600" dirty="0"/>
          </a:p>
        </p:txBody>
      </p:sp>
      <p:sp>
        <p:nvSpPr>
          <p:cNvPr id="8" name="Text 6"/>
          <p:cNvSpPr/>
          <p:nvPr/>
        </p:nvSpPr>
        <p:spPr>
          <a:xfrm>
            <a:off x="704088" y="3840480"/>
            <a:ext cx="4251960" cy="758952"/>
          </a:xfrm>
          <a:prstGeom prst="rect">
            <a:avLst/>
          </a:prstGeom>
          <a:noFill/>
          <a:ln/>
        </p:spPr>
        <p:txBody>
          <a:bodyPr wrap="square" lIns="0" tIns="0" rIns="0" bIns="0" rtlCol="0" anchor="ctr"/>
          <a:lstStyle/>
          <a:p>
            <a:pPr indent="0" marL="0">
              <a:buNone/>
            </a:pPr>
            <a:r>
              <a:rPr lang="en-US" sz="2500" dirty="0">
                <a:solidFill>
                  <a:srgbClr val="536B76"/>
                </a:solidFill>
                <a:latin typeface="Segoe UI" pitchFamily="34" charset="0"/>
                <a:ea typeface="Segoe UI" pitchFamily="34" charset="-122"/>
                <a:cs typeface="Segoe UI" pitchFamily="34" charset="-120"/>
              </a:rPr>
              <a:t>pages in the Oberglatt</a:t>
            </a:r>
            <a:endParaRPr lang="en-US" sz="2500" dirty="0"/>
          </a:p>
          <a:p>
            <a:pPr indent="0" marL="0">
              <a:buNone/>
            </a:pPr>
            <a:r>
              <a:rPr lang="en-US" sz="2500" dirty="0">
                <a:solidFill>
                  <a:srgbClr val="536B76"/>
                </a:solidFill>
                <a:latin typeface="Segoe UI" pitchFamily="34" charset="0"/>
                <a:ea typeface="Segoe UI" pitchFamily="34" charset="-122"/>
                <a:cs typeface="Segoe UI" pitchFamily="34" charset="-120"/>
              </a:rPr>
              <a:t>ventilation tender</a:t>
            </a:r>
            <a:endParaRPr lang="en-US" sz="2500" dirty="0"/>
          </a:p>
        </p:txBody>
      </p:sp>
      <p:sp>
        <p:nvSpPr>
          <p:cNvPr id="9" name="Shape 7"/>
          <p:cNvSpPr/>
          <p:nvPr/>
        </p:nvSpPr>
        <p:spPr>
          <a:xfrm>
            <a:off x="5486400" y="1938528"/>
            <a:ext cx="0" cy="3300984"/>
          </a:xfrm>
          <a:prstGeom prst="line">
            <a:avLst/>
          </a:prstGeom>
          <a:noFill/>
          <a:ln w="12700">
            <a:solidFill>
              <a:srgbClr val="D6E2DE"/>
            </a:solidFill>
            <a:prstDash val="solid"/>
          </a:ln>
        </p:spPr>
      </p:sp>
      <p:sp>
        <p:nvSpPr>
          <p:cNvPr id="10" name="Text 8"/>
          <p:cNvSpPr/>
          <p:nvPr/>
        </p:nvSpPr>
        <p:spPr>
          <a:xfrm>
            <a:off x="5879592" y="1984248"/>
            <a:ext cx="54864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01</a:t>
            </a:r>
            <a:endParaRPr lang="en-US" sz="1100" dirty="0"/>
          </a:p>
        </p:txBody>
      </p:sp>
      <p:sp>
        <p:nvSpPr>
          <p:cNvPr id="11" name="Text 9"/>
          <p:cNvSpPr/>
          <p:nvPr/>
        </p:nvSpPr>
        <p:spPr>
          <a:xfrm>
            <a:off x="6547104" y="1938528"/>
            <a:ext cx="4754880" cy="384048"/>
          </a:xfrm>
          <a:prstGeom prst="rect">
            <a:avLst/>
          </a:prstGeom>
          <a:noFill/>
          <a:ln/>
        </p:spPr>
        <p:txBody>
          <a:bodyPr wrap="square" lIns="0" tIns="0" rIns="0" bIns="0" rtlCol="0" anchor="ctr"/>
          <a:lstStyle/>
          <a:p>
            <a:pPr indent="0" marL="0">
              <a:buNone/>
            </a:pPr>
            <a:r>
              <a:rPr lang="en-US" sz="2400" dirty="0">
                <a:solidFill>
                  <a:srgbClr val="002B3D"/>
                </a:solidFill>
                <a:latin typeface="Segoe UI Semibold" pitchFamily="34" charset="0"/>
                <a:ea typeface="Segoe UI Semibold" pitchFamily="34" charset="-122"/>
                <a:cs typeface="Segoe UI Semibold" pitchFamily="34" charset="-120"/>
              </a:rPr>
              <a:t>Find the scope</a:t>
            </a:r>
            <a:endParaRPr lang="en-US" sz="2400" dirty="0"/>
          </a:p>
        </p:txBody>
      </p:sp>
      <p:sp>
        <p:nvSpPr>
          <p:cNvPr id="12" name="Text 10"/>
          <p:cNvSpPr/>
          <p:nvPr/>
        </p:nvSpPr>
        <p:spPr>
          <a:xfrm>
            <a:off x="6547104" y="2377440"/>
            <a:ext cx="4663440" cy="502920"/>
          </a:xfrm>
          <a:prstGeom prst="rect">
            <a:avLst/>
          </a:prstGeom>
          <a:noFill/>
          <a:ln/>
        </p:spPr>
        <p:txBody>
          <a:bodyPr wrap="square" lIns="0" tIns="0" rIns="0" bIns="0" rtlCol="0" anchor="ctr"/>
          <a:lstStyle/>
          <a:p>
            <a:pPr indent="0" marL="0">
              <a:buNone/>
            </a:pPr>
            <a:r>
              <a:rPr lang="en-US" sz="1700" dirty="0">
                <a:solidFill>
                  <a:srgbClr val="536B76"/>
                </a:solidFill>
                <a:latin typeface="Segoe UI" pitchFamily="34" charset="0"/>
                <a:ea typeface="Segoe UI" pitchFamily="34" charset="-122"/>
                <a:cs typeface="Segoe UI" pitchFamily="34" charset="-120"/>
              </a:rPr>
              <a:t>What is included, missing or unclear?</a:t>
            </a:r>
            <a:endParaRPr lang="en-US" sz="1700" dirty="0"/>
          </a:p>
        </p:txBody>
      </p:sp>
      <p:sp>
        <p:nvSpPr>
          <p:cNvPr id="13" name="Text 11"/>
          <p:cNvSpPr/>
          <p:nvPr/>
        </p:nvSpPr>
        <p:spPr>
          <a:xfrm>
            <a:off x="5879592" y="3090672"/>
            <a:ext cx="54864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02</a:t>
            </a:r>
            <a:endParaRPr lang="en-US" sz="1100" dirty="0"/>
          </a:p>
        </p:txBody>
      </p:sp>
      <p:sp>
        <p:nvSpPr>
          <p:cNvPr id="14" name="Text 12"/>
          <p:cNvSpPr/>
          <p:nvPr/>
        </p:nvSpPr>
        <p:spPr>
          <a:xfrm>
            <a:off x="6547104" y="3044952"/>
            <a:ext cx="4754880" cy="384048"/>
          </a:xfrm>
          <a:prstGeom prst="rect">
            <a:avLst/>
          </a:prstGeom>
          <a:noFill/>
          <a:ln/>
        </p:spPr>
        <p:txBody>
          <a:bodyPr wrap="square" lIns="0" tIns="0" rIns="0" bIns="0" rtlCol="0" anchor="ctr"/>
          <a:lstStyle/>
          <a:p>
            <a:pPr indent="0" marL="0">
              <a:buNone/>
            </a:pPr>
            <a:r>
              <a:rPr lang="en-US" sz="2400" dirty="0">
                <a:solidFill>
                  <a:srgbClr val="002B3D"/>
                </a:solidFill>
                <a:latin typeface="Segoe UI Semibold" pitchFamily="34" charset="0"/>
                <a:ea typeface="Segoe UI Semibold" pitchFamily="34" charset="-122"/>
                <a:cs typeface="Segoe UI Semibold" pitchFamily="34" charset="-120"/>
              </a:rPr>
              <a:t>Price the work</a:t>
            </a:r>
            <a:endParaRPr lang="en-US" sz="2400" dirty="0"/>
          </a:p>
        </p:txBody>
      </p:sp>
      <p:sp>
        <p:nvSpPr>
          <p:cNvPr id="15" name="Text 13"/>
          <p:cNvSpPr/>
          <p:nvPr/>
        </p:nvSpPr>
        <p:spPr>
          <a:xfrm>
            <a:off x="6547104" y="3483864"/>
            <a:ext cx="4663440" cy="502920"/>
          </a:xfrm>
          <a:prstGeom prst="rect">
            <a:avLst/>
          </a:prstGeom>
          <a:noFill/>
          <a:ln/>
        </p:spPr>
        <p:txBody>
          <a:bodyPr wrap="square" lIns="0" tIns="0" rIns="0" bIns="0" rtlCol="0" anchor="ctr"/>
          <a:lstStyle/>
          <a:p>
            <a:pPr indent="0" marL="0">
              <a:buNone/>
            </a:pPr>
            <a:r>
              <a:rPr lang="en-US" sz="1700" dirty="0">
                <a:solidFill>
                  <a:srgbClr val="536B76"/>
                </a:solidFill>
                <a:latin typeface="Segoe UI" pitchFamily="34" charset="0"/>
                <a:ea typeface="Segoe UI" pitchFamily="34" charset="-122"/>
                <a:cs typeface="Segoe UI" pitchFamily="34" charset="-120"/>
              </a:rPr>
              <a:t>Connect quantities, products and labour.</a:t>
            </a:r>
            <a:endParaRPr lang="en-US" sz="1700" dirty="0"/>
          </a:p>
        </p:txBody>
      </p:sp>
      <p:sp>
        <p:nvSpPr>
          <p:cNvPr id="16" name="Text 14"/>
          <p:cNvSpPr/>
          <p:nvPr/>
        </p:nvSpPr>
        <p:spPr>
          <a:xfrm>
            <a:off x="5879592" y="4197096"/>
            <a:ext cx="54864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03</a:t>
            </a:r>
            <a:endParaRPr lang="en-US" sz="1100" dirty="0"/>
          </a:p>
        </p:txBody>
      </p:sp>
      <p:sp>
        <p:nvSpPr>
          <p:cNvPr id="17" name="Text 15"/>
          <p:cNvSpPr/>
          <p:nvPr/>
        </p:nvSpPr>
        <p:spPr>
          <a:xfrm>
            <a:off x="6547104" y="4151376"/>
            <a:ext cx="4754880" cy="384048"/>
          </a:xfrm>
          <a:prstGeom prst="rect">
            <a:avLst/>
          </a:prstGeom>
          <a:noFill/>
          <a:ln/>
        </p:spPr>
        <p:txBody>
          <a:bodyPr wrap="square" lIns="0" tIns="0" rIns="0" bIns="0" rtlCol="0" anchor="ctr"/>
          <a:lstStyle/>
          <a:p>
            <a:pPr indent="0" marL="0">
              <a:buNone/>
            </a:pPr>
            <a:r>
              <a:rPr lang="en-US" sz="2400" dirty="0">
                <a:solidFill>
                  <a:srgbClr val="002B3D"/>
                </a:solidFill>
                <a:latin typeface="Segoe UI Semibold" pitchFamily="34" charset="0"/>
                <a:ea typeface="Segoe UI Semibold" pitchFamily="34" charset="-122"/>
                <a:cs typeface="Segoe UI Semibold" pitchFamily="34" charset="-120"/>
              </a:rPr>
              <a:t>Explain the gaps</a:t>
            </a:r>
            <a:endParaRPr lang="en-US" sz="2400" dirty="0"/>
          </a:p>
        </p:txBody>
      </p:sp>
      <p:sp>
        <p:nvSpPr>
          <p:cNvPr id="18" name="Text 16"/>
          <p:cNvSpPr/>
          <p:nvPr/>
        </p:nvSpPr>
        <p:spPr>
          <a:xfrm>
            <a:off x="6547104" y="4590288"/>
            <a:ext cx="4663440" cy="502920"/>
          </a:xfrm>
          <a:prstGeom prst="rect">
            <a:avLst/>
          </a:prstGeom>
          <a:noFill/>
          <a:ln/>
        </p:spPr>
        <p:txBody>
          <a:bodyPr wrap="square" lIns="0" tIns="0" rIns="0" bIns="0" rtlCol="0" anchor="ctr"/>
          <a:lstStyle/>
          <a:p>
            <a:pPr indent="0" marL="0">
              <a:buNone/>
            </a:pPr>
            <a:r>
              <a:rPr lang="en-US" sz="1700" dirty="0">
                <a:solidFill>
                  <a:srgbClr val="536B76"/>
                </a:solidFill>
                <a:latin typeface="Segoe UI" pitchFamily="34" charset="0"/>
                <a:ea typeface="Segoe UI" pitchFamily="34" charset="-122"/>
                <a:cs typeface="Segoe UI" pitchFamily="34" charset="-120"/>
              </a:rPr>
              <a:t>Show which decisions still need a person.</a:t>
            </a:r>
            <a:endParaRPr lang="en-US" sz="1700" dirty="0"/>
          </a:p>
        </p:txBody>
      </p:sp>
      <p:sp>
        <p:nvSpPr>
          <p:cNvPr id="19" name="Shape 17"/>
          <p:cNvSpPr/>
          <p:nvPr/>
        </p:nvSpPr>
        <p:spPr>
          <a:xfrm>
            <a:off x="640080" y="5596128"/>
            <a:ext cx="10927080" cy="512064"/>
          </a:xfrm>
          <a:prstGeom prst="rect">
            <a:avLst/>
          </a:prstGeom>
          <a:solidFill>
            <a:srgbClr val="E6F3EC"/>
          </a:solidFill>
          <a:ln w="12700">
            <a:solidFill>
              <a:srgbClr val="E6F3EC">
                <a:alpha val="0"/>
              </a:srgbClr>
            </a:solidFill>
            <a:prstDash val="solid"/>
          </a:ln>
        </p:spPr>
      </p:sp>
      <p:sp>
        <p:nvSpPr>
          <p:cNvPr id="20" name="Text 18"/>
          <p:cNvSpPr/>
          <p:nvPr/>
        </p:nvSpPr>
        <p:spPr>
          <a:xfrm>
            <a:off x="859536" y="5605272"/>
            <a:ext cx="10515600" cy="475488"/>
          </a:xfrm>
          <a:prstGeom prst="rect">
            <a:avLst/>
          </a:prstGeom>
          <a:noFill/>
          <a:ln/>
        </p:spPr>
        <p:txBody>
          <a:bodyPr wrap="square" lIns="0" tIns="0" rIns="0" bIns="0" rtlCol="0" anchor="ctr"/>
          <a:lstStyle/>
          <a:p>
            <a:pPr indent="0" marL="0">
              <a:buNone/>
            </a:pPr>
            <a:r>
              <a:rPr lang="en-US" sz="1800" dirty="0">
                <a:solidFill>
                  <a:srgbClr val="002B3D"/>
                </a:solidFill>
                <a:latin typeface="Segoe UI Semibold" pitchFamily="34" charset="0"/>
                <a:ea typeface="Segoe UI Semibold" pitchFamily="34" charset="-122"/>
                <a:cs typeface="Segoe UI Semibold" pitchFamily="34" charset="-120"/>
              </a:rPr>
              <a:t>This tender excludes price negotiations. The first estimate matters.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THE WORKSPACE</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002B3D"/>
                </a:solidFill>
                <a:latin typeface="Segoe UI Semibold" pitchFamily="34" charset="0"/>
                <a:ea typeface="Segoe UI Semibold" pitchFamily="34" charset="-122"/>
                <a:cs typeface="Segoe UI Semibold" pitchFamily="34" charset="-120"/>
              </a:rPr>
              <a:t>Read. Match. Calculate. Review.</a:t>
            </a:r>
            <a:endParaRPr lang="en-US" sz="3500" dirty="0"/>
          </a:p>
        </p:txBody>
      </p:sp>
      <p:sp>
        <p:nvSpPr>
          <p:cNvPr id="4" name="Shape 2"/>
          <p:cNvSpPr/>
          <p:nvPr/>
        </p:nvSpPr>
        <p:spPr>
          <a:xfrm>
            <a:off x="548640" y="6455664"/>
            <a:ext cx="11091672" cy="0"/>
          </a:xfrm>
          <a:prstGeom prst="line">
            <a:avLst/>
          </a:prstGeom>
          <a:noFill/>
          <a:ln w="8255">
            <a:solidFill>
              <a:srgbClr val="D6E2DE"/>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536B76"/>
                </a:solidFill>
                <a:latin typeface="Segoe UI" pitchFamily="34" charset="0"/>
                <a:ea typeface="Segoe UI" pitchFamily="34" charset="-122"/>
                <a:cs typeface="Segoe UI" pitchFamily="34" charset="-120"/>
              </a:rPr>
              <a:t>03  /  10</a:t>
            </a:r>
            <a:endParaRPr lang="en-US" sz="900" dirty="0"/>
          </a:p>
        </p:txBody>
      </p:sp>
      <p:pic>
        <p:nvPicPr>
          <p:cNvPr id="7" name="Image 0" descr="Actual BidGenius AI overview interface, prepared demo snapshot">    </p:cNvPr>
          <p:cNvPicPr>
            <a:picLocks noChangeAspect="1"/>
          </p:cNvPicPr>
          <p:nvPr/>
        </p:nvPicPr>
        <p:blipFill>
          <a:blip r:embed="rId1"/>
          <a:stretch>
            <a:fillRect/>
          </a:stretch>
        </p:blipFill>
        <p:spPr>
          <a:xfrm>
            <a:off x="640080" y="1819656"/>
            <a:ext cx="10927080" cy="3602925"/>
          </a:xfrm>
          <a:prstGeom prst="rect">
            <a:avLst/>
          </a:prstGeom>
        </p:spPr>
      </p:pic>
      <p:sp>
        <p:nvSpPr>
          <p:cNvPr id="8" name="Text 5"/>
          <p:cNvSpPr/>
          <p:nvPr/>
        </p:nvSpPr>
        <p:spPr>
          <a:xfrm>
            <a:off x="713232" y="5550408"/>
            <a:ext cx="384048"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01</a:t>
            </a:r>
            <a:endParaRPr lang="en-US" sz="1100" dirty="0"/>
          </a:p>
        </p:txBody>
      </p:sp>
      <p:sp>
        <p:nvSpPr>
          <p:cNvPr id="9" name="Text 6"/>
          <p:cNvSpPr/>
          <p:nvPr/>
        </p:nvSpPr>
        <p:spPr>
          <a:xfrm>
            <a:off x="1143000" y="5504688"/>
            <a:ext cx="3127248" cy="320040"/>
          </a:xfrm>
          <a:prstGeom prst="rect">
            <a:avLst/>
          </a:prstGeom>
          <a:noFill/>
          <a:ln/>
        </p:spPr>
        <p:txBody>
          <a:bodyPr wrap="square" lIns="0" tIns="0" rIns="0" bIns="0" rtlCol="0" anchor="ctr"/>
          <a:lstStyle/>
          <a:p>
            <a:pPr indent="0" marL="0">
              <a:buNone/>
            </a:pPr>
            <a:r>
              <a:rPr lang="en-US" sz="1900" dirty="0">
                <a:solidFill>
                  <a:srgbClr val="002B3D"/>
                </a:solidFill>
                <a:latin typeface="Segoe UI Semibold" pitchFamily="34" charset="0"/>
                <a:ea typeface="Segoe UI Semibold" pitchFamily="34" charset="-122"/>
                <a:cs typeface="Segoe UI Semibold" pitchFamily="34" charset="-120"/>
              </a:rPr>
              <a:t>AI proposes</a:t>
            </a:r>
            <a:endParaRPr lang="en-US" sz="1900" dirty="0"/>
          </a:p>
        </p:txBody>
      </p:sp>
      <p:sp>
        <p:nvSpPr>
          <p:cNvPr id="10" name="Text 7"/>
          <p:cNvSpPr/>
          <p:nvPr/>
        </p:nvSpPr>
        <p:spPr>
          <a:xfrm>
            <a:off x="1143000" y="5870448"/>
            <a:ext cx="3127248" cy="256032"/>
          </a:xfrm>
          <a:prstGeom prst="rect">
            <a:avLst/>
          </a:prstGeom>
          <a:noFill/>
          <a:ln/>
        </p:spPr>
        <p:txBody>
          <a:bodyPr wrap="square" lIns="0" tIns="0" rIns="0" bIns="0" rtlCol="0" anchor="ctr"/>
          <a:lstStyle/>
          <a:p>
            <a:pPr indent="0" marL="0">
              <a:buNone/>
            </a:pPr>
            <a:r>
              <a:rPr lang="en-US" sz="1200" dirty="0">
                <a:solidFill>
                  <a:srgbClr val="536B76"/>
                </a:solidFill>
                <a:latin typeface="Segoe UI" pitchFamily="34" charset="0"/>
                <a:ea typeface="Segoe UI" pitchFamily="34" charset="-122"/>
                <a:cs typeface="Segoe UI" pitchFamily="34" charset="-120"/>
              </a:rPr>
              <a:t>Interpretation + candidate matches</a:t>
            </a:r>
            <a:endParaRPr lang="en-US" sz="1200" dirty="0"/>
          </a:p>
        </p:txBody>
      </p:sp>
      <p:sp>
        <p:nvSpPr>
          <p:cNvPr id="11" name="Text 8"/>
          <p:cNvSpPr/>
          <p:nvPr/>
        </p:nvSpPr>
        <p:spPr>
          <a:xfrm>
            <a:off x="4416552" y="5550408"/>
            <a:ext cx="384048"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02</a:t>
            </a:r>
            <a:endParaRPr lang="en-US" sz="1100" dirty="0"/>
          </a:p>
        </p:txBody>
      </p:sp>
      <p:sp>
        <p:nvSpPr>
          <p:cNvPr id="12" name="Text 9"/>
          <p:cNvSpPr/>
          <p:nvPr/>
        </p:nvSpPr>
        <p:spPr>
          <a:xfrm>
            <a:off x="4846320" y="5504688"/>
            <a:ext cx="3127248" cy="320040"/>
          </a:xfrm>
          <a:prstGeom prst="rect">
            <a:avLst/>
          </a:prstGeom>
          <a:noFill/>
          <a:ln/>
        </p:spPr>
        <p:txBody>
          <a:bodyPr wrap="square" lIns="0" tIns="0" rIns="0" bIns="0" rtlCol="0" anchor="ctr"/>
          <a:lstStyle/>
          <a:p>
            <a:pPr indent="0" marL="0">
              <a:buNone/>
            </a:pPr>
            <a:r>
              <a:rPr lang="en-US" sz="1900" dirty="0">
                <a:solidFill>
                  <a:srgbClr val="002B3D"/>
                </a:solidFill>
                <a:latin typeface="Segoe UI Semibold" pitchFamily="34" charset="0"/>
                <a:ea typeface="Segoe UI Semibold" pitchFamily="34" charset="-122"/>
                <a:cs typeface="Segoe UI Semibold" pitchFamily="34" charset="-120"/>
              </a:rPr>
              <a:t>Code calculates</a:t>
            </a:r>
            <a:endParaRPr lang="en-US" sz="1900" dirty="0"/>
          </a:p>
        </p:txBody>
      </p:sp>
      <p:sp>
        <p:nvSpPr>
          <p:cNvPr id="13" name="Text 10"/>
          <p:cNvSpPr/>
          <p:nvPr/>
        </p:nvSpPr>
        <p:spPr>
          <a:xfrm>
            <a:off x="4846320" y="5870448"/>
            <a:ext cx="3127248" cy="256032"/>
          </a:xfrm>
          <a:prstGeom prst="rect">
            <a:avLst/>
          </a:prstGeom>
          <a:noFill/>
          <a:ln/>
        </p:spPr>
        <p:txBody>
          <a:bodyPr wrap="square" lIns="0" tIns="0" rIns="0" bIns="0" rtlCol="0" anchor="ctr"/>
          <a:lstStyle/>
          <a:p>
            <a:pPr indent="0" marL="0">
              <a:buNone/>
            </a:pPr>
            <a:r>
              <a:rPr lang="en-US" sz="1200" dirty="0">
                <a:solidFill>
                  <a:srgbClr val="536B76"/>
                </a:solidFill>
                <a:latin typeface="Segoe UI" pitchFamily="34" charset="0"/>
                <a:ea typeface="Segoe UI" pitchFamily="34" charset="-122"/>
                <a:cs typeface="Segoe UI" pitchFamily="34" charset="-120"/>
              </a:rPr>
              <a:t>Material + labour + assumptions</a:t>
            </a:r>
            <a:endParaRPr lang="en-US" sz="1200" dirty="0"/>
          </a:p>
        </p:txBody>
      </p:sp>
      <p:sp>
        <p:nvSpPr>
          <p:cNvPr id="14" name="Text 11"/>
          <p:cNvSpPr/>
          <p:nvPr/>
        </p:nvSpPr>
        <p:spPr>
          <a:xfrm>
            <a:off x="8119872" y="5550408"/>
            <a:ext cx="384048"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03</a:t>
            </a:r>
            <a:endParaRPr lang="en-US" sz="1100" dirty="0"/>
          </a:p>
        </p:txBody>
      </p:sp>
      <p:sp>
        <p:nvSpPr>
          <p:cNvPr id="15" name="Text 12"/>
          <p:cNvSpPr/>
          <p:nvPr/>
        </p:nvSpPr>
        <p:spPr>
          <a:xfrm>
            <a:off x="8549640" y="5504688"/>
            <a:ext cx="3127248" cy="320040"/>
          </a:xfrm>
          <a:prstGeom prst="rect">
            <a:avLst/>
          </a:prstGeom>
          <a:noFill/>
          <a:ln/>
        </p:spPr>
        <p:txBody>
          <a:bodyPr wrap="square" lIns="0" tIns="0" rIns="0" bIns="0" rtlCol="0" anchor="ctr"/>
          <a:lstStyle/>
          <a:p>
            <a:pPr indent="0" marL="0">
              <a:buNone/>
            </a:pPr>
            <a:r>
              <a:rPr lang="en-US" sz="1900" dirty="0">
                <a:solidFill>
                  <a:srgbClr val="002B3D"/>
                </a:solidFill>
                <a:latin typeface="Segoe UI Semibold" pitchFamily="34" charset="0"/>
                <a:ea typeface="Segoe UI Semibold" pitchFamily="34" charset="-122"/>
                <a:cs typeface="Segoe UI Semibold" pitchFamily="34" charset="-120"/>
              </a:rPr>
              <a:t>Estimator decides</a:t>
            </a:r>
            <a:endParaRPr lang="en-US" sz="1900" dirty="0"/>
          </a:p>
        </p:txBody>
      </p:sp>
      <p:sp>
        <p:nvSpPr>
          <p:cNvPr id="16" name="Text 13"/>
          <p:cNvSpPr/>
          <p:nvPr/>
        </p:nvSpPr>
        <p:spPr>
          <a:xfrm>
            <a:off x="8549640" y="5870448"/>
            <a:ext cx="3127248" cy="256032"/>
          </a:xfrm>
          <a:prstGeom prst="rect">
            <a:avLst/>
          </a:prstGeom>
          <a:noFill/>
          <a:ln/>
        </p:spPr>
        <p:txBody>
          <a:bodyPr wrap="square" lIns="0" tIns="0" rIns="0" bIns="0" rtlCol="0" anchor="ctr"/>
          <a:lstStyle/>
          <a:p>
            <a:pPr indent="0" marL="0">
              <a:buNone/>
            </a:pPr>
            <a:r>
              <a:rPr lang="en-US" sz="1200" dirty="0">
                <a:solidFill>
                  <a:srgbClr val="536B76"/>
                </a:solidFill>
                <a:latin typeface="Segoe UI" pitchFamily="34" charset="0"/>
                <a:ea typeface="Segoe UI" pitchFamily="34" charset="-122"/>
                <a:cs typeface="Segoe UI" pitchFamily="34" charset="-120"/>
              </a:rPr>
              <a:t>Review + reasons + revisions</a:t>
            </a:r>
            <a:endParaRPr lang="en-US" sz="1200" dirty="0"/>
          </a:p>
        </p:txBody>
      </p:sp>
      <p:sp>
        <p:nvSpPr>
          <p:cNvPr id="18" name="Text 14"/>
          <p:cNvSpPr/>
          <p:nvPr/>
        </p:nvSpPr>
        <p:spPr>
          <a:xfrm>
            <a:off x="713232" y="1645920"/>
            <a:ext cx="10515600" cy="146304"/>
          </a:xfrm>
          <a:prstGeom prst="rect">
            <a:avLst/>
          </a:prstGeom>
          <a:noFill/>
          <a:ln/>
        </p:spPr>
        <p:txBody>
          <a:bodyPr wrap="square" lIns="0" tIns="0" rIns="0" bIns="0" rtlCol="0" anchor="ctr"/>
          <a:lstStyle/>
          <a:p>
            <a:pPr indent="0" marL="0">
              <a:buNone/>
            </a:pPr>
            <a:r>
              <a:rPr lang="en-US" sz="850" dirty="0">
                <a:solidFill>
                  <a:srgbClr val="536B76"/>
                </a:solidFill>
                <a:latin typeface="Segoe UI" pitchFamily="34" charset="0"/>
                <a:ea typeface="Segoe UI" pitchFamily="34" charset="-122"/>
                <a:cs typeface="Segoe UI" pitchFamily="34" charset="-120"/>
              </a:rPr>
              <a:t>Prepared demo snapshot · included scope · estimator review required</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TRACEABILITY</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002B3D"/>
                </a:solidFill>
                <a:latin typeface="Segoe UI Semibold" pitchFamily="34" charset="0"/>
                <a:ea typeface="Segoe UI Semibold" pitchFamily="34" charset="-122"/>
                <a:cs typeface="Segoe UI Semibold" pitchFamily="34" charset="-120"/>
              </a:rPr>
              <a:t>Open the price. See the proof.</a:t>
            </a:r>
            <a:endParaRPr lang="en-US" sz="3500" dirty="0"/>
          </a:p>
        </p:txBody>
      </p:sp>
      <p:sp>
        <p:nvSpPr>
          <p:cNvPr id="4" name="Shape 2"/>
          <p:cNvSpPr/>
          <p:nvPr/>
        </p:nvSpPr>
        <p:spPr>
          <a:xfrm>
            <a:off x="548640" y="6455664"/>
            <a:ext cx="11091672" cy="0"/>
          </a:xfrm>
          <a:prstGeom prst="line">
            <a:avLst/>
          </a:prstGeom>
          <a:noFill/>
          <a:ln w="8255">
            <a:solidFill>
              <a:srgbClr val="D6E2DE"/>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536B76"/>
                </a:solidFill>
                <a:latin typeface="Segoe UI" pitchFamily="34" charset="0"/>
                <a:ea typeface="Segoe UI" pitchFamily="34" charset="-122"/>
                <a:cs typeface="Segoe UI" pitchFamily="34" charset="-120"/>
              </a:rPr>
              <a:t>04  /  10</a:t>
            </a:r>
            <a:endParaRPr lang="en-US" sz="900" dirty="0"/>
          </a:p>
        </p:txBody>
      </p:sp>
      <p:sp>
        <p:nvSpPr>
          <p:cNvPr id="7" name="Shape 5"/>
          <p:cNvSpPr/>
          <p:nvPr/>
        </p:nvSpPr>
        <p:spPr>
          <a:xfrm>
            <a:off x="758952" y="2048256"/>
            <a:ext cx="146304" cy="146304"/>
          </a:xfrm>
          <a:prstGeom prst="ellipse">
            <a:avLst/>
          </a:prstGeom>
          <a:solidFill>
            <a:srgbClr val="267654"/>
          </a:solidFill>
          <a:ln w="12700">
            <a:solidFill>
              <a:srgbClr val="267654">
                <a:alpha val="0"/>
              </a:srgbClr>
            </a:solidFill>
            <a:prstDash val="solid"/>
          </a:ln>
        </p:spPr>
      </p:sp>
      <p:sp>
        <p:nvSpPr>
          <p:cNvPr id="8" name="Shape 6"/>
          <p:cNvSpPr/>
          <p:nvPr/>
        </p:nvSpPr>
        <p:spPr>
          <a:xfrm>
            <a:off x="832104" y="2267712"/>
            <a:ext cx="0" cy="850392"/>
          </a:xfrm>
          <a:prstGeom prst="line">
            <a:avLst/>
          </a:prstGeom>
          <a:noFill/>
          <a:ln w="25400">
            <a:solidFill>
              <a:srgbClr val="D6E2DE"/>
            </a:solidFill>
            <a:prstDash val="solid"/>
          </a:ln>
        </p:spPr>
      </p:sp>
      <p:sp>
        <p:nvSpPr>
          <p:cNvPr id="9" name="Text 7"/>
          <p:cNvSpPr/>
          <p:nvPr/>
        </p:nvSpPr>
        <p:spPr>
          <a:xfrm>
            <a:off x="1124712" y="1911096"/>
            <a:ext cx="6062472" cy="484632"/>
          </a:xfrm>
          <a:prstGeom prst="rect">
            <a:avLst/>
          </a:prstGeom>
          <a:noFill/>
          <a:ln/>
        </p:spPr>
        <p:txBody>
          <a:bodyPr wrap="square" lIns="0" tIns="0" rIns="0" bIns="0" rtlCol="0" anchor="ctr"/>
          <a:lstStyle/>
          <a:p>
            <a:pPr indent="0" marL="0">
              <a:buNone/>
            </a:pPr>
            <a:r>
              <a:rPr lang="en-US" sz="3100" dirty="0">
                <a:solidFill>
                  <a:srgbClr val="002B3D"/>
                </a:solidFill>
                <a:latin typeface="Segoe UI Semibold" pitchFamily="34" charset="0"/>
                <a:ea typeface="Segoe UI Semibold" pitchFamily="34" charset="-122"/>
                <a:cs typeface="Segoe UI Semibold" pitchFamily="34" charset="-120"/>
              </a:rPr>
              <a:t>310 m²</a:t>
            </a:r>
            <a:endParaRPr lang="en-US" sz="3100" dirty="0"/>
          </a:p>
        </p:txBody>
      </p:sp>
      <p:sp>
        <p:nvSpPr>
          <p:cNvPr id="10" name="Text 8"/>
          <p:cNvSpPr/>
          <p:nvPr/>
        </p:nvSpPr>
        <p:spPr>
          <a:xfrm>
            <a:off x="1143000" y="2441448"/>
            <a:ext cx="5760720" cy="320040"/>
          </a:xfrm>
          <a:prstGeom prst="rect">
            <a:avLst/>
          </a:prstGeom>
          <a:noFill/>
          <a:ln/>
        </p:spPr>
        <p:txBody>
          <a:bodyPr wrap="square" lIns="0" tIns="0" rIns="0" bIns="0" rtlCol="0" anchor="ctr"/>
          <a:lstStyle/>
          <a:p>
            <a:pPr indent="0" marL="0">
              <a:buNone/>
            </a:pPr>
            <a:r>
              <a:rPr lang="en-US" sz="1800" dirty="0">
                <a:solidFill>
                  <a:srgbClr val="002B3D"/>
                </a:solidFill>
                <a:latin typeface="Segoe UI" pitchFamily="34" charset="0"/>
                <a:ea typeface="Segoe UI" pitchFamily="34" charset="-122"/>
                <a:cs typeface="Segoe UI" pitchFamily="34" charset="-120"/>
              </a:rPr>
              <a:t>Quantity from PDF page 113</a:t>
            </a:r>
            <a:endParaRPr lang="en-US" sz="1800" dirty="0"/>
          </a:p>
        </p:txBody>
      </p:sp>
      <p:sp>
        <p:nvSpPr>
          <p:cNvPr id="11" name="Text 9"/>
          <p:cNvSpPr/>
          <p:nvPr/>
        </p:nvSpPr>
        <p:spPr>
          <a:xfrm>
            <a:off x="1143000" y="2798064"/>
            <a:ext cx="5760720" cy="256032"/>
          </a:xfrm>
          <a:prstGeom prst="rect">
            <a:avLst/>
          </a:prstGeom>
          <a:noFill/>
          <a:ln/>
        </p:spPr>
        <p:txBody>
          <a:bodyPr wrap="square" lIns="0" tIns="0" rIns="0" bIns="0" rtlCol="0" anchor="ctr"/>
          <a:lstStyle/>
          <a:p>
            <a:pPr indent="0" marL="0">
              <a:buNone/>
            </a:pPr>
            <a:r>
              <a:rPr lang="en-US" sz="1300" dirty="0">
                <a:solidFill>
                  <a:srgbClr val="536B76"/>
                </a:solidFill>
                <a:latin typeface="Segoe UI" pitchFamily="34" charset="0"/>
                <a:ea typeface="Segoe UI" pitchFamily="34" charset="-122"/>
                <a:cs typeface="Segoe UI" pitchFamily="34" charset="-120"/>
              </a:rPr>
              <a:t>LA02 · thermal insulation</a:t>
            </a:r>
            <a:endParaRPr lang="en-US" sz="1300" dirty="0"/>
          </a:p>
        </p:txBody>
      </p:sp>
      <p:sp>
        <p:nvSpPr>
          <p:cNvPr id="12" name="Shape 10"/>
          <p:cNvSpPr/>
          <p:nvPr/>
        </p:nvSpPr>
        <p:spPr>
          <a:xfrm>
            <a:off x="758952" y="3282696"/>
            <a:ext cx="146304" cy="146304"/>
          </a:xfrm>
          <a:prstGeom prst="ellipse">
            <a:avLst/>
          </a:prstGeom>
          <a:solidFill>
            <a:srgbClr val="267654"/>
          </a:solidFill>
          <a:ln w="12700">
            <a:solidFill>
              <a:srgbClr val="267654">
                <a:alpha val="0"/>
              </a:srgbClr>
            </a:solidFill>
            <a:prstDash val="solid"/>
          </a:ln>
        </p:spPr>
      </p:sp>
      <p:sp>
        <p:nvSpPr>
          <p:cNvPr id="13" name="Shape 11"/>
          <p:cNvSpPr/>
          <p:nvPr/>
        </p:nvSpPr>
        <p:spPr>
          <a:xfrm>
            <a:off x="832104" y="3502152"/>
            <a:ext cx="0" cy="850392"/>
          </a:xfrm>
          <a:prstGeom prst="line">
            <a:avLst/>
          </a:prstGeom>
          <a:noFill/>
          <a:ln w="25400">
            <a:solidFill>
              <a:srgbClr val="D6E2DE"/>
            </a:solidFill>
            <a:prstDash val="solid"/>
          </a:ln>
        </p:spPr>
      </p:sp>
      <p:sp>
        <p:nvSpPr>
          <p:cNvPr id="14" name="Text 12"/>
          <p:cNvSpPr/>
          <p:nvPr/>
        </p:nvSpPr>
        <p:spPr>
          <a:xfrm>
            <a:off x="1124712" y="3145536"/>
            <a:ext cx="6062472" cy="484632"/>
          </a:xfrm>
          <a:prstGeom prst="rect">
            <a:avLst/>
          </a:prstGeom>
          <a:noFill/>
          <a:ln/>
        </p:spPr>
        <p:txBody>
          <a:bodyPr wrap="square" lIns="0" tIns="0" rIns="0" bIns="0" rtlCol="0" anchor="ctr"/>
          <a:lstStyle/>
          <a:p>
            <a:pPr indent="0" marL="0">
              <a:buNone/>
            </a:pPr>
            <a:r>
              <a:rPr lang="en-US" sz="2500" dirty="0">
                <a:solidFill>
                  <a:srgbClr val="002B3D"/>
                </a:solidFill>
                <a:latin typeface="Segoe UI Semibold" pitchFamily="34" charset="0"/>
                <a:ea typeface="Segoe UI Semibold" pitchFamily="34" charset="-122"/>
                <a:cs typeface="Segoe UI Semibold" pitchFamily="34" charset="-120"/>
              </a:rPr>
              <a:t>P-INS-002</a:t>
            </a:r>
            <a:endParaRPr lang="en-US" sz="2500" dirty="0"/>
          </a:p>
        </p:txBody>
      </p:sp>
      <p:sp>
        <p:nvSpPr>
          <p:cNvPr id="15" name="Text 13"/>
          <p:cNvSpPr/>
          <p:nvPr/>
        </p:nvSpPr>
        <p:spPr>
          <a:xfrm>
            <a:off x="1143000" y="3675888"/>
            <a:ext cx="5760720" cy="320040"/>
          </a:xfrm>
          <a:prstGeom prst="rect">
            <a:avLst/>
          </a:prstGeom>
          <a:noFill/>
          <a:ln/>
        </p:spPr>
        <p:txBody>
          <a:bodyPr wrap="square" lIns="0" tIns="0" rIns="0" bIns="0" rtlCol="0" anchor="ctr"/>
          <a:lstStyle/>
          <a:p>
            <a:pPr indent="0" marL="0">
              <a:buNone/>
            </a:pPr>
            <a:r>
              <a:rPr lang="en-US" sz="1800" dirty="0">
                <a:solidFill>
                  <a:srgbClr val="002B3D"/>
                </a:solidFill>
                <a:latin typeface="Segoe UI" pitchFamily="34" charset="0"/>
                <a:ea typeface="Segoe UI" pitchFamily="34" charset="-122"/>
                <a:cs typeface="Segoe UI" pitchFamily="34" charset="-120"/>
              </a:rPr>
              <a:t>Catalogue pricing reference</a:t>
            </a:r>
            <a:endParaRPr lang="en-US" sz="1800" dirty="0"/>
          </a:p>
        </p:txBody>
      </p:sp>
      <p:sp>
        <p:nvSpPr>
          <p:cNvPr id="16" name="Text 14"/>
          <p:cNvSpPr/>
          <p:nvPr/>
        </p:nvSpPr>
        <p:spPr>
          <a:xfrm>
            <a:off x="1143000" y="4032504"/>
            <a:ext cx="5760720" cy="256032"/>
          </a:xfrm>
          <a:prstGeom prst="rect">
            <a:avLst/>
          </a:prstGeom>
          <a:noFill/>
          <a:ln/>
        </p:spPr>
        <p:txBody>
          <a:bodyPr wrap="square" lIns="0" tIns="0" rIns="0" bIns="0" rtlCol="0" anchor="ctr"/>
          <a:lstStyle/>
          <a:p>
            <a:pPr indent="0" marL="0">
              <a:buNone/>
            </a:pPr>
            <a:r>
              <a:rPr lang="en-US" sz="1300" dirty="0">
                <a:solidFill>
                  <a:srgbClr val="536B76"/>
                </a:solidFill>
                <a:latin typeface="Segoe UI" pitchFamily="34" charset="0"/>
                <a:ea typeface="Segoe UI" pitchFamily="34" charset="-122"/>
                <a:cs typeface="Segoe UI" pitchFamily="34" charset="-120"/>
              </a:rPr>
              <a:t>60 mm mineral wool insulation</a:t>
            </a:r>
            <a:endParaRPr lang="en-US" sz="1300" dirty="0"/>
          </a:p>
        </p:txBody>
      </p:sp>
      <p:sp>
        <p:nvSpPr>
          <p:cNvPr id="17" name="Shape 15"/>
          <p:cNvSpPr/>
          <p:nvPr/>
        </p:nvSpPr>
        <p:spPr>
          <a:xfrm>
            <a:off x="758952" y="4517136"/>
            <a:ext cx="146304" cy="146304"/>
          </a:xfrm>
          <a:prstGeom prst="ellipse">
            <a:avLst/>
          </a:prstGeom>
          <a:solidFill>
            <a:srgbClr val="267654"/>
          </a:solidFill>
          <a:ln w="12700">
            <a:solidFill>
              <a:srgbClr val="267654">
                <a:alpha val="0"/>
              </a:srgbClr>
            </a:solidFill>
            <a:prstDash val="solid"/>
          </a:ln>
        </p:spPr>
      </p:sp>
      <p:sp>
        <p:nvSpPr>
          <p:cNvPr id="18" name="Text 16"/>
          <p:cNvSpPr/>
          <p:nvPr/>
        </p:nvSpPr>
        <p:spPr>
          <a:xfrm>
            <a:off x="1124712" y="4379976"/>
            <a:ext cx="6062472" cy="484632"/>
          </a:xfrm>
          <a:prstGeom prst="rect">
            <a:avLst/>
          </a:prstGeom>
          <a:noFill/>
          <a:ln/>
        </p:spPr>
        <p:txBody>
          <a:bodyPr wrap="square" lIns="0" tIns="0" rIns="0" bIns="0" rtlCol="0" anchor="ctr"/>
          <a:lstStyle/>
          <a:p>
            <a:pPr indent="0" marL="0">
              <a:buNone/>
            </a:pPr>
            <a:r>
              <a:rPr lang="en-US" sz="2500" dirty="0">
                <a:solidFill>
                  <a:srgbClr val="002B3D"/>
                </a:solidFill>
                <a:latin typeface="Segoe UI Semibold" pitchFamily="34" charset="0"/>
                <a:ea typeface="Segoe UI Semibold" pitchFamily="34" charset="-122"/>
                <a:cs typeface="Segoe UI Semibold" pitchFamily="34" charset="-120"/>
              </a:rPr>
              <a:t>Labour rule</a:t>
            </a:r>
            <a:endParaRPr lang="en-US" sz="2500" dirty="0"/>
          </a:p>
        </p:txBody>
      </p:sp>
      <p:sp>
        <p:nvSpPr>
          <p:cNvPr id="19" name="Text 17"/>
          <p:cNvSpPr/>
          <p:nvPr/>
        </p:nvSpPr>
        <p:spPr>
          <a:xfrm>
            <a:off x="1143000" y="4910328"/>
            <a:ext cx="5760720" cy="320040"/>
          </a:xfrm>
          <a:prstGeom prst="rect">
            <a:avLst/>
          </a:prstGeom>
          <a:noFill/>
          <a:ln/>
        </p:spPr>
        <p:txBody>
          <a:bodyPr wrap="square" lIns="0" tIns="0" rIns="0" bIns="0" rtlCol="0" anchor="ctr"/>
          <a:lstStyle/>
          <a:p>
            <a:pPr indent="0" marL="0">
              <a:buNone/>
            </a:pPr>
            <a:r>
              <a:rPr lang="en-US" sz="1800" dirty="0">
                <a:solidFill>
                  <a:srgbClr val="002B3D"/>
                </a:solidFill>
                <a:latin typeface="Segoe UI" pitchFamily="34" charset="0"/>
                <a:ea typeface="Segoe UI" pitchFamily="34" charset="-122"/>
                <a:cs typeface="Segoe UI" pitchFamily="34" charset="-120"/>
              </a:rPr>
              <a:t>Hours, site factors and rate</a:t>
            </a:r>
            <a:endParaRPr lang="en-US" sz="1800" dirty="0"/>
          </a:p>
        </p:txBody>
      </p:sp>
      <p:sp>
        <p:nvSpPr>
          <p:cNvPr id="20" name="Text 18"/>
          <p:cNvSpPr/>
          <p:nvPr/>
        </p:nvSpPr>
        <p:spPr>
          <a:xfrm>
            <a:off x="1143000" y="5266944"/>
            <a:ext cx="5760720" cy="256032"/>
          </a:xfrm>
          <a:prstGeom prst="rect">
            <a:avLst/>
          </a:prstGeom>
          <a:noFill/>
          <a:ln/>
        </p:spPr>
        <p:txBody>
          <a:bodyPr wrap="square" lIns="0" tIns="0" rIns="0" bIns="0" rtlCol="0" anchor="ctr"/>
          <a:lstStyle/>
          <a:p>
            <a:pPr indent="0" marL="0">
              <a:buNone/>
            </a:pPr>
            <a:r>
              <a:rPr lang="en-US" sz="1300" dirty="0">
                <a:solidFill>
                  <a:srgbClr val="536B76"/>
                </a:solidFill>
                <a:latin typeface="Segoe UI" pitchFamily="34" charset="0"/>
                <a:ea typeface="Segoe UI" pitchFamily="34" charset="-122"/>
                <a:cs typeface="Segoe UI" pitchFamily="34" charset="-120"/>
              </a:rPr>
              <a:t>Calculation inputs stay inspectable</a:t>
            </a:r>
            <a:endParaRPr lang="en-US" sz="1300" dirty="0"/>
          </a:p>
        </p:txBody>
      </p:sp>
      <p:sp>
        <p:nvSpPr>
          <p:cNvPr id="21" name="Shape 19"/>
          <p:cNvSpPr/>
          <p:nvPr/>
        </p:nvSpPr>
        <p:spPr>
          <a:xfrm>
            <a:off x="7799832" y="1737360"/>
            <a:ext cx="3776472" cy="4544568"/>
          </a:xfrm>
          <a:prstGeom prst="rect">
            <a:avLst/>
          </a:prstGeom>
          <a:solidFill>
            <a:srgbClr val="D6E2DE"/>
          </a:solidFill>
          <a:ln w="12700">
            <a:solidFill>
              <a:srgbClr val="D6E2DE">
                <a:alpha val="0"/>
              </a:srgbClr>
            </a:solidFill>
            <a:prstDash val="solid"/>
          </a:ln>
        </p:spPr>
      </p:sp>
      <p:pic>
        <p:nvPicPr>
          <p:cNvPr id="22" name="Image 0" descr="Actual BidGenius AI inspector interface, prepared demo snapshot">    </p:cNvPr>
          <p:cNvPicPr>
            <a:picLocks noChangeAspect="1"/>
          </p:cNvPicPr>
          <p:nvPr/>
        </p:nvPicPr>
        <p:blipFill>
          <a:blip r:embed="rId1"/>
          <a:stretch>
            <a:fillRect/>
          </a:stretch>
        </p:blipFill>
        <p:spPr>
          <a:xfrm>
            <a:off x="7836408" y="1773936"/>
            <a:ext cx="3703320" cy="4505376"/>
          </a:xfrm>
          <a:prstGeom prst="rect">
            <a:avLst/>
          </a:prstGeom>
        </p:spPr>
      </p:pic>
      <p:sp>
        <p:nvSpPr>
          <p:cNvPr id="23" name="Text 20"/>
          <p:cNvSpPr/>
          <p:nvPr/>
        </p:nvSpPr>
        <p:spPr>
          <a:xfrm>
            <a:off x="722376" y="5952744"/>
            <a:ext cx="6492240" cy="320040"/>
          </a:xfrm>
          <a:prstGeom prst="rect">
            <a:avLst/>
          </a:prstGeom>
          <a:noFill/>
          <a:ln/>
        </p:spPr>
        <p:txBody>
          <a:bodyPr wrap="square" lIns="0" tIns="0" rIns="0" bIns="0" rtlCol="0" anchor="ctr"/>
          <a:lstStyle/>
          <a:p>
            <a:pPr indent="0" marL="0">
              <a:buNone/>
            </a:pPr>
            <a:r>
              <a:rPr lang="en-US" sz="1600" dirty="0">
                <a:solidFill>
                  <a:srgbClr val="267654"/>
                </a:solidFill>
                <a:latin typeface="Segoe UI Semibold" pitchFamily="34" charset="0"/>
                <a:ea typeface="Segoe UI Semibold" pitchFamily="34" charset="-122"/>
                <a:cs typeface="Segoe UI Semibold" pitchFamily="34" charset="-120"/>
              </a:rPr>
              <a:t>A price reference still needs technical review.</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2B3D"/>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83D6B2"/>
                </a:solidFill>
                <a:latin typeface="Segoe UI Semibold" pitchFamily="34" charset="0"/>
                <a:ea typeface="Segoe UI Semibold" pitchFamily="34" charset="-122"/>
                <a:cs typeface="Segoe UI Semibold" pitchFamily="34" charset="-120"/>
              </a:rPr>
              <a:t>THE MOMENT THAT MATTERS</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FFFFFF"/>
                </a:solidFill>
                <a:latin typeface="Segoe UI Semibold" pitchFamily="34" charset="0"/>
                <a:ea typeface="Segoe UI Semibold" pitchFamily="34" charset="-122"/>
                <a:cs typeface="Segoe UI Semibold" pitchFamily="34" charset="-120"/>
              </a:rPr>
              <a:t>“This needs your decision.”</a:t>
            </a:r>
            <a:endParaRPr lang="en-US" sz="3500" dirty="0"/>
          </a:p>
        </p:txBody>
      </p:sp>
      <p:sp>
        <p:nvSpPr>
          <p:cNvPr id="4" name="Shape 2"/>
          <p:cNvSpPr/>
          <p:nvPr/>
        </p:nvSpPr>
        <p:spPr>
          <a:xfrm>
            <a:off x="548640" y="6455664"/>
            <a:ext cx="11091672" cy="0"/>
          </a:xfrm>
          <a:prstGeom prst="line">
            <a:avLst/>
          </a:prstGeom>
          <a:noFill/>
          <a:ln w="8255">
            <a:solidFill>
              <a:srgbClr val="0A3C4C"/>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B6CCD1"/>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B6CCD1"/>
                </a:solidFill>
                <a:latin typeface="Segoe UI" pitchFamily="34" charset="0"/>
                <a:ea typeface="Segoe UI" pitchFamily="34" charset="-122"/>
                <a:cs typeface="Segoe UI" pitchFamily="34" charset="-120"/>
              </a:rPr>
              <a:t>05  /  10</a:t>
            </a:r>
            <a:endParaRPr lang="en-US" sz="900" dirty="0"/>
          </a:p>
        </p:txBody>
      </p:sp>
      <p:sp>
        <p:nvSpPr>
          <p:cNvPr id="7" name="Shape 5"/>
          <p:cNvSpPr/>
          <p:nvPr/>
        </p:nvSpPr>
        <p:spPr>
          <a:xfrm>
            <a:off x="667512" y="1847088"/>
            <a:ext cx="5120640" cy="3337560"/>
          </a:xfrm>
          <a:prstGeom prst="rect">
            <a:avLst/>
          </a:prstGeom>
          <a:solidFill>
            <a:srgbClr val="FFFFFF"/>
          </a:solidFill>
          <a:ln w="12700">
            <a:solidFill>
              <a:srgbClr val="FFFFFF">
                <a:alpha val="0"/>
              </a:srgbClr>
            </a:solidFill>
            <a:prstDash val="solid"/>
          </a:ln>
        </p:spPr>
      </p:sp>
      <p:pic>
        <p:nvPicPr>
          <p:cNvPr id="8" name="Image 0" descr="Actual BidGenius AI scope interface, prepared demo snapshot">    </p:cNvPr>
          <p:cNvPicPr>
            <a:picLocks noChangeAspect="1"/>
          </p:cNvPicPr>
          <p:nvPr/>
        </p:nvPicPr>
        <p:blipFill>
          <a:blip r:embed="rId1"/>
          <a:stretch>
            <a:fillRect/>
          </a:stretch>
        </p:blipFill>
        <p:spPr>
          <a:xfrm>
            <a:off x="795528" y="1993392"/>
            <a:ext cx="4864608" cy="2680940"/>
          </a:xfrm>
          <a:prstGeom prst="rect">
            <a:avLst/>
          </a:prstGeom>
        </p:spPr>
      </p:pic>
      <p:sp>
        <p:nvSpPr>
          <p:cNvPr id="9" name="Shape 6"/>
          <p:cNvSpPr/>
          <p:nvPr/>
        </p:nvSpPr>
        <p:spPr>
          <a:xfrm>
            <a:off x="1399032" y="3099816"/>
            <a:ext cx="4005072" cy="228600"/>
          </a:xfrm>
          <a:prstGeom prst="rect">
            <a:avLst/>
          </a:prstGeom>
          <a:solidFill>
            <a:srgbClr val="F2C780">
              <a:alpha val="28000"/>
            </a:srgbClr>
          </a:solidFill>
          <a:ln w="15240">
            <a:solidFill>
              <a:srgbClr val="F2C780"/>
            </a:solidFill>
            <a:prstDash val="solid"/>
          </a:ln>
        </p:spPr>
      </p:sp>
      <p:sp>
        <p:nvSpPr>
          <p:cNvPr id="10" name="Text 7"/>
          <p:cNvSpPr/>
          <p:nvPr/>
        </p:nvSpPr>
        <p:spPr>
          <a:xfrm>
            <a:off x="722376" y="5330952"/>
            <a:ext cx="4937760" cy="246888"/>
          </a:xfrm>
          <a:prstGeom prst="rect">
            <a:avLst/>
          </a:prstGeom>
          <a:noFill/>
          <a:ln/>
        </p:spPr>
        <p:txBody>
          <a:bodyPr wrap="square" lIns="0" tIns="0" rIns="0" bIns="0" rtlCol="0" anchor="ctr"/>
          <a:lstStyle/>
          <a:p>
            <a:pPr indent="0" marL="0">
              <a:buNone/>
            </a:pPr>
            <a:r>
              <a:rPr lang="en-US" sz="1100" dirty="0">
                <a:solidFill>
                  <a:srgbClr val="B6CCD1"/>
                </a:solidFill>
                <a:latin typeface="Segoe UI" pitchFamily="34" charset="0"/>
                <a:ea typeface="Segoe UI" pitchFamily="34" charset="-122"/>
                <a:cs typeface="Segoe UI" pitchFamily="34" charset="-120"/>
              </a:rPr>
              <a:t>Original tender · page 110</a:t>
            </a:r>
            <a:endParaRPr lang="en-US" sz="1100" dirty="0"/>
          </a:p>
        </p:txBody>
      </p:sp>
      <p:sp>
        <p:nvSpPr>
          <p:cNvPr id="11" name="Text 8"/>
          <p:cNvSpPr/>
          <p:nvPr/>
        </p:nvSpPr>
        <p:spPr>
          <a:xfrm>
            <a:off x="6291072" y="1947672"/>
            <a:ext cx="4572000" cy="237744"/>
          </a:xfrm>
          <a:prstGeom prst="rect">
            <a:avLst/>
          </a:prstGeom>
          <a:noFill/>
          <a:ln/>
        </p:spPr>
        <p:txBody>
          <a:bodyPr wrap="square" lIns="0" tIns="0" rIns="0" bIns="0" rtlCol="0" anchor="ctr"/>
          <a:lstStyle/>
          <a:p>
            <a:pPr indent="0" marL="0">
              <a:buNone/>
            </a:pPr>
            <a:r>
              <a:rPr lang="en-US" sz="1100" spc="210" kern="0" dirty="0">
                <a:solidFill>
                  <a:srgbClr val="83D6B2"/>
                </a:solidFill>
                <a:latin typeface="Segoe UI Semibold" pitchFamily="34" charset="0"/>
                <a:ea typeface="Segoe UI Semibold" pitchFamily="34" charset="-122"/>
                <a:cs typeface="Segoe UI Semibold" pitchFamily="34" charset="-120"/>
              </a:rPr>
              <a:t>SCOPE AMBIGUITY</a:t>
            </a:r>
            <a:endParaRPr lang="en-US" sz="1100" dirty="0"/>
          </a:p>
        </p:txBody>
      </p:sp>
      <p:sp>
        <p:nvSpPr>
          <p:cNvPr id="12" name="Text 9"/>
          <p:cNvSpPr/>
          <p:nvPr/>
        </p:nvSpPr>
        <p:spPr>
          <a:xfrm>
            <a:off x="6272784" y="2395728"/>
            <a:ext cx="5175504" cy="950976"/>
          </a:xfrm>
          <a:prstGeom prst="rect">
            <a:avLst/>
          </a:prstGeom>
          <a:noFill/>
          <a:ln/>
        </p:spPr>
        <p:txBody>
          <a:bodyPr wrap="square" lIns="0" tIns="0" rIns="0" bIns="0" rtlCol="0" anchor="ctr"/>
          <a:lstStyle/>
          <a:p>
            <a:pPr indent="0" marL="0">
              <a:buNone/>
            </a:pPr>
            <a:r>
              <a:rPr lang="en-US" sz="2900" dirty="0">
                <a:solidFill>
                  <a:srgbClr val="FFFFFF"/>
                </a:solidFill>
                <a:latin typeface="Segoe UI Semibold" pitchFamily="34" charset="0"/>
                <a:ea typeface="Segoe UI Semibold" pitchFamily="34" charset="-122"/>
                <a:cs typeface="Segoe UI Semibold" pitchFamily="34" charset="-120"/>
              </a:rPr>
              <a:t>“Not part of this tender.</a:t>
            </a:r>
            <a:endParaRPr lang="en-US" sz="2900" dirty="0"/>
          </a:p>
          <a:p>
            <a:pPr indent="0" marL="0">
              <a:buNone/>
            </a:pPr>
            <a:r>
              <a:rPr lang="en-US" sz="2900" dirty="0">
                <a:solidFill>
                  <a:srgbClr val="FFFFFF"/>
                </a:solidFill>
                <a:latin typeface="Segoe UI Semibold" pitchFamily="34" charset="0"/>
                <a:ea typeface="Segoe UI Semibold" pitchFamily="34" charset="-122"/>
                <a:cs typeface="Segoe UI Semibold" pitchFamily="34" charset="-120"/>
              </a:rPr>
              <a:t>Tendered separately.”</a:t>
            </a:r>
            <a:endParaRPr lang="en-US" sz="2900" dirty="0"/>
          </a:p>
        </p:txBody>
      </p:sp>
      <p:sp>
        <p:nvSpPr>
          <p:cNvPr id="13" name="Text 10"/>
          <p:cNvSpPr/>
          <p:nvPr/>
        </p:nvSpPr>
        <p:spPr>
          <a:xfrm>
            <a:off x="6318504" y="3593592"/>
            <a:ext cx="4837176" cy="822960"/>
          </a:xfrm>
          <a:prstGeom prst="rect">
            <a:avLst/>
          </a:prstGeom>
          <a:noFill/>
          <a:ln/>
        </p:spPr>
        <p:txBody>
          <a:bodyPr wrap="square" lIns="0" tIns="0" rIns="0" bIns="0" rtlCol="0" anchor="ctr"/>
          <a:lstStyle/>
          <a:p>
            <a:pPr indent="0" marL="0">
              <a:buNone/>
            </a:pPr>
            <a:r>
              <a:rPr lang="en-US" sz="1900" dirty="0">
                <a:solidFill>
                  <a:srgbClr val="B6CCD1"/>
                </a:solidFill>
                <a:latin typeface="Segoe UI" pitchFamily="34" charset="0"/>
                <a:ea typeface="Segoe UI" pitchFamily="34" charset="-122"/>
                <a:cs typeface="Segoe UI" pitchFamily="34" charset="-120"/>
              </a:rPr>
              <a:t>The page also lists field devices.</a:t>
            </a:r>
            <a:endParaRPr lang="en-US" sz="1900" dirty="0"/>
          </a:p>
          <a:p>
            <a:pPr indent="0" marL="0">
              <a:buNone/>
            </a:pPr>
            <a:r>
              <a:rPr lang="en-US" sz="1900" dirty="0">
                <a:solidFill>
                  <a:srgbClr val="B6CCD1"/>
                </a:solidFill>
                <a:latin typeface="Segoe UI" pitchFamily="34" charset="0"/>
                <a:ea typeface="Segoe UI" pitchFamily="34" charset="-122"/>
                <a:cs typeface="Segoe UI" pitchFamily="34" charset="-120"/>
              </a:rPr>
              <a:t>The estimator resolves the scope.</a:t>
            </a:r>
            <a:endParaRPr lang="en-US" sz="1900" dirty="0"/>
          </a:p>
        </p:txBody>
      </p:sp>
      <p:sp>
        <p:nvSpPr>
          <p:cNvPr id="14" name="Shape 11"/>
          <p:cNvSpPr/>
          <p:nvPr/>
        </p:nvSpPr>
        <p:spPr>
          <a:xfrm>
            <a:off x="6309360" y="4672584"/>
            <a:ext cx="1472184" cy="310896"/>
          </a:xfrm>
          <a:prstGeom prst="rect">
            <a:avLst/>
          </a:prstGeom>
          <a:solidFill>
            <a:srgbClr val="0A3C4C"/>
          </a:solidFill>
          <a:ln w="12700">
            <a:solidFill>
              <a:srgbClr val="0A3C4C">
                <a:alpha val="0"/>
              </a:srgbClr>
            </a:solidFill>
            <a:prstDash val="solid"/>
          </a:ln>
        </p:spPr>
      </p:sp>
      <p:sp>
        <p:nvSpPr>
          <p:cNvPr id="15" name="Text 12"/>
          <p:cNvSpPr/>
          <p:nvPr/>
        </p:nvSpPr>
        <p:spPr>
          <a:xfrm>
            <a:off x="6400800" y="4672584"/>
            <a:ext cx="1289304" cy="310896"/>
          </a:xfrm>
          <a:prstGeom prst="rect">
            <a:avLst/>
          </a:prstGeom>
          <a:noFill/>
          <a:ln/>
        </p:spPr>
        <p:txBody>
          <a:bodyPr wrap="square" lIns="0" tIns="0" rIns="0" bIns="0" rtlCol="0" anchor="ctr"/>
          <a:lstStyle/>
          <a:p>
            <a:pPr algn="ctr" indent="0" marL="0">
              <a:buNone/>
            </a:pPr>
            <a:r>
              <a:rPr lang="en-US" sz="1050" dirty="0">
                <a:solidFill>
                  <a:srgbClr val="FFFFFF"/>
                </a:solidFill>
                <a:latin typeface="Segoe UI Semibold" pitchFamily="34" charset="0"/>
                <a:ea typeface="Segoe UI Semibold" pitchFamily="34" charset="-122"/>
                <a:cs typeface="Segoe UI Semibold" pitchFamily="34" charset="-120"/>
              </a:rPr>
              <a:t>Include</a:t>
            </a:r>
            <a:endParaRPr lang="en-US" sz="1050" dirty="0"/>
          </a:p>
        </p:txBody>
      </p:sp>
      <p:sp>
        <p:nvSpPr>
          <p:cNvPr id="16" name="Shape 13"/>
          <p:cNvSpPr/>
          <p:nvPr/>
        </p:nvSpPr>
        <p:spPr>
          <a:xfrm>
            <a:off x="7946136" y="4672584"/>
            <a:ext cx="1472184" cy="310896"/>
          </a:xfrm>
          <a:prstGeom prst="rect">
            <a:avLst/>
          </a:prstGeom>
          <a:solidFill>
            <a:srgbClr val="83D6B2"/>
          </a:solidFill>
          <a:ln w="12700">
            <a:solidFill>
              <a:srgbClr val="83D6B2">
                <a:alpha val="0"/>
              </a:srgbClr>
            </a:solidFill>
            <a:prstDash val="solid"/>
          </a:ln>
        </p:spPr>
      </p:sp>
      <p:sp>
        <p:nvSpPr>
          <p:cNvPr id="17" name="Text 14"/>
          <p:cNvSpPr/>
          <p:nvPr/>
        </p:nvSpPr>
        <p:spPr>
          <a:xfrm>
            <a:off x="8037576" y="4672584"/>
            <a:ext cx="1289304" cy="310896"/>
          </a:xfrm>
          <a:prstGeom prst="rect">
            <a:avLst/>
          </a:prstGeom>
          <a:noFill/>
          <a:ln/>
        </p:spPr>
        <p:txBody>
          <a:bodyPr wrap="square" lIns="0" tIns="0" rIns="0" bIns="0" rtlCol="0" anchor="ctr"/>
          <a:lstStyle/>
          <a:p>
            <a:pPr algn="ctr" indent="0" marL="0">
              <a:buNone/>
            </a:pPr>
            <a:r>
              <a:rPr lang="en-US" sz="1050" dirty="0">
                <a:solidFill>
                  <a:srgbClr val="002B3D"/>
                </a:solidFill>
                <a:latin typeface="Segoe UI Semibold" pitchFamily="34" charset="0"/>
                <a:ea typeface="Segoe UI Semibold" pitchFamily="34" charset="-122"/>
                <a:cs typeface="Segoe UI Semibold" pitchFamily="34" charset="-120"/>
              </a:rPr>
              <a:t>Install only</a:t>
            </a:r>
            <a:endParaRPr lang="en-US" sz="1050" dirty="0"/>
          </a:p>
        </p:txBody>
      </p:sp>
      <p:sp>
        <p:nvSpPr>
          <p:cNvPr id="18" name="Shape 15"/>
          <p:cNvSpPr/>
          <p:nvPr/>
        </p:nvSpPr>
        <p:spPr>
          <a:xfrm>
            <a:off x="9582912" y="4672584"/>
            <a:ext cx="1472184" cy="310896"/>
          </a:xfrm>
          <a:prstGeom prst="rect">
            <a:avLst/>
          </a:prstGeom>
          <a:solidFill>
            <a:srgbClr val="0A3C4C"/>
          </a:solidFill>
          <a:ln w="12700">
            <a:solidFill>
              <a:srgbClr val="0A3C4C">
                <a:alpha val="0"/>
              </a:srgbClr>
            </a:solidFill>
            <a:prstDash val="solid"/>
          </a:ln>
        </p:spPr>
      </p:sp>
      <p:sp>
        <p:nvSpPr>
          <p:cNvPr id="19" name="Text 16"/>
          <p:cNvSpPr/>
          <p:nvPr/>
        </p:nvSpPr>
        <p:spPr>
          <a:xfrm>
            <a:off x="9674352" y="4672584"/>
            <a:ext cx="1289304" cy="310896"/>
          </a:xfrm>
          <a:prstGeom prst="rect">
            <a:avLst/>
          </a:prstGeom>
          <a:noFill/>
          <a:ln/>
        </p:spPr>
        <p:txBody>
          <a:bodyPr wrap="square" lIns="0" tIns="0" rIns="0" bIns="0" rtlCol="0" anchor="ctr"/>
          <a:lstStyle/>
          <a:p>
            <a:pPr algn="ctr" indent="0" marL="0">
              <a:buNone/>
            </a:pPr>
            <a:r>
              <a:rPr lang="en-US" sz="1050" dirty="0">
                <a:solidFill>
                  <a:srgbClr val="FFFFFF"/>
                </a:solidFill>
                <a:latin typeface="Segoe UI Semibold" pitchFamily="34" charset="0"/>
                <a:ea typeface="Segoe UI Semibold" pitchFamily="34" charset="-122"/>
                <a:cs typeface="Segoe UI Semibold" pitchFamily="34" charset="-120"/>
              </a:rPr>
              <a:t>Exclude</a:t>
            </a:r>
            <a:endParaRPr lang="en-US" sz="1050" dirty="0"/>
          </a:p>
        </p:txBody>
      </p:sp>
      <p:sp>
        <p:nvSpPr>
          <p:cNvPr id="20" name="Text 17"/>
          <p:cNvSpPr/>
          <p:nvPr/>
        </p:nvSpPr>
        <p:spPr>
          <a:xfrm>
            <a:off x="6318504" y="5257800"/>
            <a:ext cx="5074920" cy="484632"/>
          </a:xfrm>
          <a:prstGeom prst="rect">
            <a:avLst/>
          </a:prstGeom>
          <a:noFill/>
          <a:ln/>
        </p:spPr>
        <p:txBody>
          <a:bodyPr wrap="square" lIns="0" tIns="0" rIns="0" bIns="0" rtlCol="0" anchor="ctr"/>
          <a:lstStyle/>
          <a:p>
            <a:pPr indent="0" marL="0">
              <a:buNone/>
            </a:pPr>
            <a:r>
              <a:rPr lang="en-US" sz="1900" dirty="0">
                <a:solidFill>
                  <a:srgbClr val="83D6B2"/>
                </a:solidFill>
                <a:latin typeface="Segoe UI Semibold" pitchFamily="34" charset="0"/>
                <a:ea typeface="Segoe UI Semibold" pitchFamily="34" charset="-122"/>
                <a:cs typeface="Segoe UI Semibold" pitchFamily="34" charset="-120"/>
              </a:rPr>
              <a:t>Record a reason. Create a revision.</a:t>
            </a:r>
            <a:endParaRPr lang="en-US" sz="1900" dirty="0"/>
          </a:p>
        </p:txBody>
      </p:sp>
      <p:sp>
        <p:nvSpPr>
          <p:cNvPr id="21" name="Text 18"/>
          <p:cNvSpPr/>
          <p:nvPr/>
        </p:nvSpPr>
        <p:spPr>
          <a:xfrm>
            <a:off x="740664" y="5934456"/>
            <a:ext cx="10515600" cy="292608"/>
          </a:xfrm>
          <a:prstGeom prst="rect">
            <a:avLst/>
          </a:prstGeom>
          <a:noFill/>
          <a:ln/>
        </p:spPr>
        <p:txBody>
          <a:bodyPr wrap="square" lIns="0" tIns="0" rIns="0" bIns="0" rtlCol="0" anchor="ctr"/>
          <a:lstStyle/>
          <a:p>
            <a:pPr indent="0" marL="0">
              <a:buNone/>
            </a:pPr>
            <a:r>
              <a:rPr lang="en-US" sz="1900" dirty="0">
                <a:solidFill>
                  <a:srgbClr val="FFFFFF"/>
                </a:solidFill>
                <a:latin typeface="Segoe UI" pitchFamily="34" charset="0"/>
                <a:ea typeface="Segoe UI" pitchFamily="34" charset="-122"/>
                <a:cs typeface="Segoe UI" pitchFamily="34" charset="-120"/>
              </a:rPr>
              <a:t>Unknown scope stays visible until it is reviewed.</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BID SCENARIOS</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002B3D"/>
                </a:solidFill>
                <a:latin typeface="Segoe UI Semibold" pitchFamily="34" charset="0"/>
                <a:ea typeface="Segoe UI Semibold" pitchFamily="34" charset="-122"/>
                <a:cs typeface="Segoe UI Semibold" pitchFamily="34" charset="-120"/>
              </a:rPr>
              <a:t>Compare the bid before committing.</a:t>
            </a:r>
            <a:endParaRPr lang="en-US" sz="3500" dirty="0"/>
          </a:p>
        </p:txBody>
      </p:sp>
      <p:sp>
        <p:nvSpPr>
          <p:cNvPr id="4" name="Shape 2"/>
          <p:cNvSpPr/>
          <p:nvPr/>
        </p:nvSpPr>
        <p:spPr>
          <a:xfrm>
            <a:off x="548640" y="6455664"/>
            <a:ext cx="11091672" cy="0"/>
          </a:xfrm>
          <a:prstGeom prst="line">
            <a:avLst/>
          </a:prstGeom>
          <a:noFill/>
          <a:ln w="8255">
            <a:solidFill>
              <a:srgbClr val="D6E2DE"/>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536B76"/>
                </a:solidFill>
                <a:latin typeface="Segoe UI" pitchFamily="34" charset="0"/>
                <a:ea typeface="Segoe UI" pitchFamily="34" charset="-122"/>
                <a:cs typeface="Segoe UI" pitchFamily="34" charset="-120"/>
              </a:rPr>
              <a:t>06  /  10</a:t>
            </a:r>
            <a:endParaRPr lang="en-US" sz="900" dirty="0"/>
          </a:p>
        </p:txBody>
      </p:sp>
      <p:sp>
        <p:nvSpPr>
          <p:cNvPr id="7" name="Text 5"/>
          <p:cNvSpPr/>
          <p:nvPr/>
        </p:nvSpPr>
        <p:spPr>
          <a:xfrm>
            <a:off x="768096" y="1920240"/>
            <a:ext cx="105156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THREE STRATEGIES / SAME INCLUDED SCOPE</a:t>
            </a:r>
            <a:endParaRPr lang="en-US" sz="1100" dirty="0"/>
          </a:p>
        </p:txBody>
      </p:sp>
      <p:pic>
        <p:nvPicPr>
          <p:cNvPr id="8" name="Image 0" descr="Actual BidGenius AI scenario_cards interface, prepared demo snapshot">    </p:cNvPr>
          <p:cNvPicPr>
            <a:picLocks noChangeAspect="1"/>
          </p:cNvPicPr>
          <p:nvPr/>
        </p:nvPicPr>
        <p:blipFill>
          <a:blip r:embed="rId1"/>
          <a:stretch>
            <a:fillRect/>
          </a:stretch>
        </p:blipFill>
        <p:spPr>
          <a:xfrm>
            <a:off x="658368" y="2532888"/>
            <a:ext cx="10863072" cy="2228691"/>
          </a:xfrm>
          <a:prstGeom prst="rect">
            <a:avLst/>
          </a:prstGeom>
        </p:spPr>
      </p:pic>
      <p:sp>
        <p:nvSpPr>
          <p:cNvPr id="9" name="Text 6"/>
          <p:cNvSpPr/>
          <p:nvPr/>
        </p:nvSpPr>
        <p:spPr>
          <a:xfrm>
            <a:off x="768096" y="5559552"/>
            <a:ext cx="10661904" cy="429768"/>
          </a:xfrm>
          <a:prstGeom prst="rect">
            <a:avLst/>
          </a:prstGeom>
          <a:noFill/>
          <a:ln/>
        </p:spPr>
        <p:txBody>
          <a:bodyPr wrap="square" lIns="0" tIns="0" rIns="0" bIns="0" rtlCol="0" anchor="ctr"/>
          <a:lstStyle/>
          <a:p>
            <a:pPr indent="0" marL="0">
              <a:buNone/>
            </a:pPr>
            <a:r>
              <a:rPr lang="en-US" sz="2500" dirty="0">
                <a:solidFill>
                  <a:srgbClr val="002B3D"/>
                </a:solidFill>
                <a:latin typeface="Segoe UI Semibold" pitchFamily="34" charset="0"/>
                <a:ea typeface="Segoe UI Semibold" pitchFamily="34" charset="-122"/>
                <a:cs typeface="Segoe UI Semibold" pitchFamily="34" charset="-120"/>
              </a:rPr>
              <a:t>Preview → Compare → Apply with a reason</a:t>
            </a:r>
            <a:endParaRPr lang="en-US" sz="2500" dirty="0"/>
          </a:p>
        </p:txBody>
      </p:sp>
      <p:sp>
        <p:nvSpPr>
          <p:cNvPr id="10" name="Text 7"/>
          <p:cNvSpPr/>
          <p:nvPr/>
        </p:nvSpPr>
        <p:spPr>
          <a:xfrm>
            <a:off x="768096" y="6208776"/>
            <a:ext cx="10698480" cy="192024"/>
          </a:xfrm>
          <a:prstGeom prst="rect">
            <a:avLst/>
          </a:prstGeom>
          <a:noFill/>
          <a:ln/>
        </p:spPr>
        <p:txBody>
          <a:bodyPr wrap="square" lIns="0" tIns="0" rIns="0" bIns="0" rtlCol="0" anchor="ctr"/>
          <a:lstStyle/>
          <a:p>
            <a:pPr indent="0" marL="0">
              <a:buNone/>
            </a:pPr>
            <a:r>
              <a:rPr lang="en-US" sz="1000" dirty="0">
                <a:solidFill>
                  <a:srgbClr val="536B76"/>
                </a:solidFill>
                <a:latin typeface="Segoe UI" pitchFamily="34" charset="0"/>
                <a:ea typeface="Segoe UI" pitchFamily="34" charset="-122"/>
                <a:cs typeface="Segoe UI" pitchFamily="34" charset="-120"/>
              </a:rPr>
              <a:t>Prepared demo snapshot. Win probabilities are illustrative; included scope only.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MEASURED EVIDENCE</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002B3D"/>
                </a:solidFill>
                <a:latin typeface="Segoe UI Semibold" pitchFamily="34" charset="0"/>
                <a:ea typeface="Segoe UI Semibold" pitchFamily="34" charset="-122"/>
                <a:cs typeface="Segoe UI Semibold" pitchFamily="34" charset="-120"/>
              </a:rPr>
              <a:t>Fast to a draft. Clear about the limits.</a:t>
            </a:r>
            <a:endParaRPr lang="en-US" sz="3500" dirty="0"/>
          </a:p>
        </p:txBody>
      </p:sp>
      <p:sp>
        <p:nvSpPr>
          <p:cNvPr id="4" name="Shape 2"/>
          <p:cNvSpPr/>
          <p:nvPr/>
        </p:nvSpPr>
        <p:spPr>
          <a:xfrm>
            <a:off x="548640" y="6455664"/>
            <a:ext cx="11091672" cy="0"/>
          </a:xfrm>
          <a:prstGeom prst="line">
            <a:avLst/>
          </a:prstGeom>
          <a:noFill/>
          <a:ln w="8255">
            <a:solidFill>
              <a:srgbClr val="D6E2DE"/>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536B76"/>
                </a:solidFill>
                <a:latin typeface="Segoe UI" pitchFamily="34" charset="0"/>
                <a:ea typeface="Segoe UI" pitchFamily="34" charset="-122"/>
                <a:cs typeface="Segoe UI" pitchFamily="34" charset="-120"/>
              </a:rPr>
              <a:t>07  /  10</a:t>
            </a:r>
            <a:endParaRPr lang="en-US" sz="900" dirty="0"/>
          </a:p>
        </p:txBody>
      </p:sp>
      <p:sp>
        <p:nvSpPr>
          <p:cNvPr id="7" name="Text 5"/>
          <p:cNvSpPr/>
          <p:nvPr/>
        </p:nvSpPr>
        <p:spPr>
          <a:xfrm>
            <a:off x="740664" y="1874520"/>
            <a:ext cx="466344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PREPARED LOCAL RUN</a:t>
            </a:r>
            <a:endParaRPr lang="en-US" sz="1100" dirty="0"/>
          </a:p>
        </p:txBody>
      </p:sp>
      <p:sp>
        <p:nvSpPr>
          <p:cNvPr id="8" name="Text 6"/>
          <p:cNvSpPr/>
          <p:nvPr/>
        </p:nvSpPr>
        <p:spPr>
          <a:xfrm>
            <a:off x="649224" y="2139696"/>
            <a:ext cx="4937760" cy="1444752"/>
          </a:xfrm>
          <a:prstGeom prst="rect">
            <a:avLst/>
          </a:prstGeom>
          <a:noFill/>
          <a:ln/>
        </p:spPr>
        <p:txBody>
          <a:bodyPr wrap="square" lIns="0" tIns="0" rIns="0" bIns="0" rtlCol="0" anchor="ctr"/>
          <a:lstStyle/>
          <a:p>
            <a:pPr indent="0" marL="0">
              <a:buNone/>
            </a:pPr>
            <a:r>
              <a:rPr lang="en-US" sz="9200" dirty="0">
                <a:solidFill>
                  <a:srgbClr val="002B3D"/>
                </a:solidFill>
                <a:latin typeface="Segoe UI Semibold" pitchFamily="34" charset="0"/>
                <a:ea typeface="Segoe UI Semibold" pitchFamily="34" charset="-122"/>
                <a:cs typeface="Segoe UI Semibold" pitchFamily="34" charset="-120"/>
              </a:rPr>
              <a:t>55 s</a:t>
            </a:r>
            <a:endParaRPr lang="en-US" sz="9200" dirty="0"/>
          </a:p>
        </p:txBody>
      </p:sp>
      <p:sp>
        <p:nvSpPr>
          <p:cNvPr id="9" name="Text 7"/>
          <p:cNvSpPr/>
          <p:nvPr/>
        </p:nvSpPr>
        <p:spPr>
          <a:xfrm>
            <a:off x="758952" y="3639312"/>
            <a:ext cx="4663440" cy="475488"/>
          </a:xfrm>
          <a:prstGeom prst="rect">
            <a:avLst/>
          </a:prstGeom>
          <a:noFill/>
          <a:ln/>
        </p:spPr>
        <p:txBody>
          <a:bodyPr wrap="square" lIns="0" tIns="0" rIns="0" bIns="0" rtlCol="0" anchor="ctr"/>
          <a:lstStyle/>
          <a:p>
            <a:pPr indent="0" marL="0">
              <a:buNone/>
            </a:pPr>
            <a:r>
              <a:rPr lang="en-US" sz="2500" dirty="0">
                <a:solidFill>
                  <a:srgbClr val="002B3D"/>
                </a:solidFill>
                <a:latin typeface="Segoe UI Semibold" pitchFamily="34" charset="0"/>
                <a:ea typeface="Segoe UI Semibold" pitchFamily="34" charset="-122"/>
                <a:cs typeface="Segoe UI Semibold" pitchFamily="34" charset="-120"/>
              </a:rPr>
              <a:t>to a reviewable first draft</a:t>
            </a:r>
            <a:endParaRPr lang="en-US" sz="2500" dirty="0"/>
          </a:p>
        </p:txBody>
      </p:sp>
      <p:sp>
        <p:nvSpPr>
          <p:cNvPr id="10" name="Text 8"/>
          <p:cNvSpPr/>
          <p:nvPr/>
        </p:nvSpPr>
        <p:spPr>
          <a:xfrm>
            <a:off x="768096" y="4288536"/>
            <a:ext cx="4828032" cy="850392"/>
          </a:xfrm>
          <a:prstGeom prst="rect">
            <a:avLst/>
          </a:prstGeom>
          <a:noFill/>
          <a:ln/>
        </p:spPr>
        <p:txBody>
          <a:bodyPr wrap="square" lIns="0" tIns="0" rIns="0" bIns="0" rtlCol="0" anchor="ctr"/>
          <a:lstStyle/>
          <a:p>
            <a:pPr indent="0" marL="0">
              <a:buNone/>
            </a:pPr>
            <a:r>
              <a:rPr lang="en-US" sz="1800" dirty="0">
                <a:solidFill>
                  <a:srgbClr val="536B76"/>
                </a:solidFill>
                <a:latin typeface="Segoe UI" pitchFamily="34" charset="0"/>
                <a:ea typeface="Segoe UI" pitchFamily="34" charset="-122"/>
                <a:cs typeface="Segoe UI" pitchFamily="34" charset="-120"/>
              </a:rPr>
              <a:t>202 pages attempted · one partial page</a:t>
            </a:r>
            <a:endParaRPr lang="en-US" sz="1800" dirty="0"/>
          </a:p>
          <a:p>
            <a:pPr indent="0" marL="0">
              <a:buNone/>
            </a:pPr>
            <a:r>
              <a:rPr lang="en-US" sz="1800" dirty="0">
                <a:solidFill>
                  <a:srgbClr val="536B76"/>
                </a:solidFill>
                <a:latin typeface="Segoe UI" pitchFamily="34" charset="0"/>
                <a:ea typeface="Segoe UI" pitchFamily="34" charset="-122"/>
                <a:cs typeface="Segoe UI" pitchFamily="34" charset="-120"/>
              </a:rPr>
              <a:t>Single laptop · no AI call in this run</a:t>
            </a:r>
            <a:endParaRPr lang="en-US" sz="1800" dirty="0"/>
          </a:p>
        </p:txBody>
      </p:sp>
      <p:sp>
        <p:nvSpPr>
          <p:cNvPr id="11" name="Shape 9"/>
          <p:cNvSpPr/>
          <p:nvPr/>
        </p:nvSpPr>
        <p:spPr>
          <a:xfrm>
            <a:off x="5815584" y="1856232"/>
            <a:ext cx="0" cy="3273552"/>
          </a:xfrm>
          <a:prstGeom prst="line">
            <a:avLst/>
          </a:prstGeom>
          <a:noFill/>
          <a:ln w="12700">
            <a:solidFill>
              <a:srgbClr val="D6E2DE"/>
            </a:solidFill>
            <a:prstDash val="solid"/>
          </a:ln>
        </p:spPr>
      </p:sp>
      <p:sp>
        <p:nvSpPr>
          <p:cNvPr id="12" name="Text 10"/>
          <p:cNvSpPr/>
          <p:nvPr/>
        </p:nvSpPr>
        <p:spPr>
          <a:xfrm>
            <a:off x="6245352" y="1874520"/>
            <a:ext cx="5175504"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SEPARATE AI + LOCAL RUN</a:t>
            </a:r>
            <a:endParaRPr lang="en-US" sz="1100" dirty="0"/>
          </a:p>
        </p:txBody>
      </p:sp>
      <p:sp>
        <p:nvSpPr>
          <p:cNvPr id="13" name="Text 11"/>
          <p:cNvSpPr/>
          <p:nvPr/>
        </p:nvSpPr>
        <p:spPr>
          <a:xfrm>
            <a:off x="6172200" y="2221992"/>
            <a:ext cx="5029200" cy="1188720"/>
          </a:xfrm>
          <a:prstGeom prst="rect">
            <a:avLst/>
          </a:prstGeom>
          <a:noFill/>
          <a:ln/>
        </p:spPr>
        <p:txBody>
          <a:bodyPr wrap="square" lIns="0" tIns="0" rIns="0" bIns="0" rtlCol="0" anchor="ctr"/>
          <a:lstStyle/>
          <a:p>
            <a:pPr indent="0" marL="0">
              <a:buNone/>
            </a:pPr>
            <a:r>
              <a:rPr lang="en-US" sz="7300" dirty="0">
                <a:solidFill>
                  <a:srgbClr val="002B3D"/>
                </a:solidFill>
                <a:latin typeface="Segoe UI Semibold" pitchFamily="34" charset="0"/>
                <a:ea typeface="Segoe UI Semibold" pitchFamily="34" charset="-122"/>
                <a:cs typeface="Segoe UI Semibold" pitchFamily="34" charset="-120"/>
              </a:rPr>
              <a:t>80/83</a:t>
            </a:r>
            <a:endParaRPr lang="en-US" sz="7300" dirty="0"/>
          </a:p>
        </p:txBody>
      </p:sp>
      <p:sp>
        <p:nvSpPr>
          <p:cNvPr id="14" name="Text 12"/>
          <p:cNvSpPr/>
          <p:nvPr/>
        </p:nvSpPr>
        <p:spPr>
          <a:xfrm>
            <a:off x="6272784" y="3639312"/>
            <a:ext cx="4992624" cy="832104"/>
          </a:xfrm>
          <a:prstGeom prst="rect">
            <a:avLst/>
          </a:prstGeom>
          <a:noFill/>
          <a:ln/>
        </p:spPr>
        <p:txBody>
          <a:bodyPr wrap="square" lIns="0" tIns="0" rIns="0" bIns="0" rtlCol="0" anchor="ctr"/>
          <a:lstStyle/>
          <a:p>
            <a:pPr indent="0" marL="0">
              <a:buNone/>
            </a:pPr>
            <a:r>
              <a:rPr lang="en-US" sz="2300" dirty="0">
                <a:solidFill>
                  <a:srgbClr val="002B3D"/>
                </a:solidFill>
                <a:latin typeface="Segoe UI Semibold" pitchFamily="34" charset="0"/>
                <a:ea typeface="Segoe UI Semibold" pitchFamily="34" charset="-122"/>
                <a:cs typeface="Segoe UI Semibold" pitchFamily="34" charset="-120"/>
              </a:rPr>
              <a:t>sample rows detected with</a:t>
            </a:r>
            <a:endParaRPr lang="en-US" sz="2300" dirty="0"/>
          </a:p>
          <a:p>
            <a:pPr indent="0" marL="0">
              <a:buNone/>
            </a:pPr>
            <a:r>
              <a:rPr lang="en-US" sz="2300" dirty="0">
                <a:solidFill>
                  <a:srgbClr val="002B3D"/>
                </a:solidFill>
                <a:latin typeface="Segoe UI Semibold" pitchFamily="34" charset="0"/>
                <a:ea typeface="Segoe UI Semibold" pitchFamily="34" charset="-122"/>
                <a:cs typeface="Segoe UI Semibold" pitchFamily="34" charset="-120"/>
              </a:rPr>
              <a:t>correct quantity and unit</a:t>
            </a:r>
            <a:endParaRPr lang="en-US" sz="2300" dirty="0"/>
          </a:p>
        </p:txBody>
      </p:sp>
      <p:sp>
        <p:nvSpPr>
          <p:cNvPr id="15" name="Text 13"/>
          <p:cNvSpPr/>
          <p:nvPr/>
        </p:nvSpPr>
        <p:spPr>
          <a:xfrm>
            <a:off x="6281928" y="4608576"/>
            <a:ext cx="5010912" cy="603504"/>
          </a:xfrm>
          <a:prstGeom prst="rect">
            <a:avLst/>
          </a:prstGeom>
          <a:noFill/>
          <a:ln/>
        </p:spPr>
        <p:txBody>
          <a:bodyPr wrap="square" lIns="0" tIns="0" rIns="0" bIns="0" rtlCol="0" anchor="ctr"/>
          <a:lstStyle/>
          <a:p>
            <a:pPr indent="0" marL="0">
              <a:buNone/>
            </a:pPr>
            <a:r>
              <a:rPr lang="en-US" sz="1600" dirty="0">
                <a:solidFill>
                  <a:srgbClr val="536B76"/>
                </a:solidFill>
                <a:latin typeface="Segoe UI" pitchFamily="34" charset="0"/>
                <a:ea typeface="Segoe UI" pitchFamily="34" charset="-122"/>
                <a:cs typeface="Segoe UI" pitchFamily="34" charset="-120"/>
              </a:rPr>
              <a:t>Purposive sample; does not establish</a:t>
            </a:r>
            <a:endParaRPr lang="en-US" sz="1600" dirty="0"/>
          </a:p>
          <a:p>
            <a:pPr indent="0" marL="0">
              <a:buNone/>
            </a:pPr>
            <a:r>
              <a:rPr lang="en-US" sz="1600" dirty="0">
                <a:solidFill>
                  <a:srgbClr val="536B76"/>
                </a:solidFill>
                <a:latin typeface="Segoe UI" pitchFamily="34" charset="0"/>
                <a:ea typeface="Segoe UI" pitchFamily="34" charset="-122"/>
                <a:cs typeface="Segoe UI" pitchFamily="34" charset="-120"/>
              </a:rPr>
              <a:t>complete extraction or pricing accuracy.</a:t>
            </a:r>
            <a:endParaRPr lang="en-US" sz="1600" dirty="0"/>
          </a:p>
        </p:txBody>
      </p:sp>
      <p:sp>
        <p:nvSpPr>
          <p:cNvPr id="16" name="Shape 14"/>
          <p:cNvSpPr/>
          <p:nvPr/>
        </p:nvSpPr>
        <p:spPr>
          <a:xfrm>
            <a:off x="694944" y="5532120"/>
            <a:ext cx="10872216" cy="612648"/>
          </a:xfrm>
          <a:prstGeom prst="rect">
            <a:avLst/>
          </a:prstGeom>
          <a:solidFill>
            <a:srgbClr val="E6F3EC"/>
          </a:solidFill>
          <a:ln w="12700">
            <a:solidFill>
              <a:srgbClr val="E6F3EC">
                <a:alpha val="0"/>
              </a:srgbClr>
            </a:solidFill>
            <a:prstDash val="solid"/>
          </a:ln>
        </p:spPr>
      </p:sp>
      <p:sp>
        <p:nvSpPr>
          <p:cNvPr id="17" name="Text 15"/>
          <p:cNvSpPr/>
          <p:nvPr/>
        </p:nvSpPr>
        <p:spPr>
          <a:xfrm>
            <a:off x="896112" y="5559552"/>
            <a:ext cx="6035040" cy="521208"/>
          </a:xfrm>
          <a:prstGeom prst="rect">
            <a:avLst/>
          </a:prstGeom>
          <a:noFill/>
          <a:ln/>
        </p:spPr>
        <p:txBody>
          <a:bodyPr wrap="square" lIns="0" tIns="0" rIns="0" bIns="0" rtlCol="0" anchor="ctr"/>
          <a:lstStyle/>
          <a:p>
            <a:pPr indent="0" marL="0">
              <a:buNone/>
            </a:pPr>
            <a:r>
              <a:rPr lang="en-US" sz="2100" dirty="0">
                <a:solidFill>
                  <a:srgbClr val="267654"/>
                </a:solidFill>
                <a:latin typeface="Segoe UI Semibold" pitchFamily="34" charset="0"/>
                <a:ea typeface="Segoe UI Semibold" pitchFamily="34" charset="-122"/>
                <a:cs typeface="Segoe UI Semibold" pitchFamily="34" charset="-120"/>
              </a:rPr>
              <a:t>22/22 supplied examples reproduced</a:t>
            </a:r>
            <a:endParaRPr lang="en-US" sz="2100" dirty="0"/>
          </a:p>
        </p:txBody>
      </p:sp>
      <p:sp>
        <p:nvSpPr>
          <p:cNvPr id="18" name="Text 16"/>
          <p:cNvSpPr/>
          <p:nvPr/>
        </p:nvSpPr>
        <p:spPr>
          <a:xfrm>
            <a:off x="6903720" y="5632704"/>
            <a:ext cx="4389120" cy="320040"/>
          </a:xfrm>
          <a:prstGeom prst="rect">
            <a:avLst/>
          </a:prstGeom>
          <a:noFill/>
          <a:ln/>
        </p:spPr>
        <p:txBody>
          <a:bodyPr wrap="square" lIns="0" tIns="0" rIns="0" bIns="0" rtlCol="0" anchor="ctr"/>
          <a:lstStyle/>
          <a:p>
            <a:pPr algn="r" indent="0" marL="0">
              <a:buNone/>
            </a:pPr>
            <a:r>
              <a:rPr lang="en-US" sz="1400" dirty="0">
                <a:solidFill>
                  <a:srgbClr val="536B76"/>
                </a:solidFill>
                <a:latin typeface="Segoe UI" pitchFamily="34" charset="0"/>
                <a:ea typeface="Segoe UI" pitchFamily="34" charset="-122"/>
                <a:cs typeface="Segoe UI" pitchFamily="34" charset="-120"/>
              </a:rPr>
              <a:t>Quantity · unit · reference · system</a:t>
            </a:r>
            <a:endParaRPr lang="en-US" sz="1400" dirty="0"/>
          </a:p>
        </p:txBody>
      </p:sp>
      <p:sp>
        <p:nvSpPr>
          <p:cNvPr id="19" name="Text 17"/>
          <p:cNvSpPr/>
          <p:nvPr/>
        </p:nvSpPr>
        <p:spPr>
          <a:xfrm>
            <a:off x="768096" y="6236208"/>
            <a:ext cx="10698480" cy="146304"/>
          </a:xfrm>
          <a:prstGeom prst="rect">
            <a:avLst/>
          </a:prstGeom>
          <a:noFill/>
          <a:ln/>
        </p:spPr>
        <p:txBody>
          <a:bodyPr wrap="square" lIns="0" tIns="0" rIns="0" bIns="0" rtlCol="0" anchor="ctr"/>
          <a:lstStyle/>
          <a:p>
            <a:pPr indent="0" marL="0">
              <a:buNone/>
            </a:pPr>
            <a:r>
              <a:rPr lang="en-US" sz="850" dirty="0">
                <a:solidFill>
                  <a:srgbClr val="536B76"/>
                </a:solidFill>
                <a:latin typeface="Segoe UI" pitchFamily="34" charset="0"/>
                <a:ea typeface="Segoe UI" pitchFamily="34" charset="-122"/>
                <a:cs typeface="Segoe UI" pitchFamily="34" charset="-120"/>
              </a:rPr>
              <a:t>Sources: prepared-demo.json · evaluation.json · live-holdout-evaluation.json (10 Oct 2026)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HANDOVER</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002B3D"/>
                </a:solidFill>
                <a:latin typeface="Segoe UI Semibold" pitchFamily="34" charset="0"/>
                <a:ea typeface="Segoe UI Semibold" pitchFamily="34" charset="-122"/>
                <a:cs typeface="Segoe UI Semibold" pitchFamily="34" charset="-120"/>
              </a:rPr>
              <a:t>The estimate travels with its evidence.</a:t>
            </a:r>
            <a:endParaRPr lang="en-US" sz="3500" dirty="0"/>
          </a:p>
        </p:txBody>
      </p:sp>
      <p:sp>
        <p:nvSpPr>
          <p:cNvPr id="4" name="Shape 2"/>
          <p:cNvSpPr/>
          <p:nvPr/>
        </p:nvSpPr>
        <p:spPr>
          <a:xfrm>
            <a:off x="548640" y="6455664"/>
            <a:ext cx="11091672" cy="0"/>
          </a:xfrm>
          <a:prstGeom prst="line">
            <a:avLst/>
          </a:prstGeom>
          <a:noFill/>
          <a:ln w="8255">
            <a:solidFill>
              <a:srgbClr val="D6E2DE"/>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536B76"/>
                </a:solidFill>
                <a:latin typeface="Segoe UI" pitchFamily="34" charset="0"/>
                <a:ea typeface="Segoe UI" pitchFamily="34" charset="-122"/>
                <a:cs typeface="Segoe UI" pitchFamily="34" charset="-120"/>
              </a:rPr>
              <a:t>08  /  10</a:t>
            </a:r>
            <a:endParaRPr lang="en-US" sz="900" dirty="0"/>
          </a:p>
        </p:txBody>
      </p:sp>
      <p:sp>
        <p:nvSpPr>
          <p:cNvPr id="7" name="Shape 5"/>
          <p:cNvSpPr/>
          <p:nvPr/>
        </p:nvSpPr>
        <p:spPr>
          <a:xfrm>
            <a:off x="685800" y="1938528"/>
            <a:ext cx="4636008" cy="4142232"/>
          </a:xfrm>
          <a:prstGeom prst="rect">
            <a:avLst/>
          </a:prstGeom>
          <a:solidFill>
            <a:srgbClr val="002B3D"/>
          </a:solidFill>
          <a:ln w="12700">
            <a:solidFill>
              <a:srgbClr val="002B3D">
                <a:alpha val="0"/>
              </a:srgbClr>
            </a:solidFill>
            <a:prstDash val="solid"/>
          </a:ln>
        </p:spPr>
      </p:sp>
      <p:sp>
        <p:nvSpPr>
          <p:cNvPr id="8" name="Text 6"/>
          <p:cNvSpPr/>
          <p:nvPr/>
        </p:nvSpPr>
        <p:spPr>
          <a:xfrm>
            <a:off x="987552" y="2295144"/>
            <a:ext cx="3749040" cy="237744"/>
          </a:xfrm>
          <a:prstGeom prst="rect">
            <a:avLst/>
          </a:prstGeom>
          <a:noFill/>
          <a:ln/>
        </p:spPr>
        <p:txBody>
          <a:bodyPr wrap="square" lIns="0" tIns="0" rIns="0" bIns="0" rtlCol="0" anchor="ctr"/>
          <a:lstStyle/>
          <a:p>
            <a:pPr indent="0" marL="0">
              <a:buNone/>
            </a:pPr>
            <a:r>
              <a:rPr lang="en-US" sz="1100" spc="210" kern="0" dirty="0">
                <a:solidFill>
                  <a:srgbClr val="83D6B2"/>
                </a:solidFill>
                <a:latin typeface="Segoe UI Semibold" pitchFamily="34" charset="0"/>
                <a:ea typeface="Segoe UI Semibold" pitchFamily="34" charset="-122"/>
                <a:cs typeface="Segoe UI Semibold" pitchFamily="34" charset="-120"/>
              </a:rPr>
              <a:t>ONE REVISION</a:t>
            </a:r>
            <a:endParaRPr lang="en-US" sz="1100" dirty="0"/>
          </a:p>
        </p:txBody>
      </p:sp>
      <p:sp>
        <p:nvSpPr>
          <p:cNvPr id="9" name="Text 7"/>
          <p:cNvSpPr/>
          <p:nvPr/>
        </p:nvSpPr>
        <p:spPr>
          <a:xfrm>
            <a:off x="978408" y="2807208"/>
            <a:ext cx="3822192" cy="1609344"/>
          </a:xfrm>
          <a:prstGeom prst="rect">
            <a:avLst/>
          </a:prstGeom>
          <a:noFill/>
          <a:ln/>
        </p:spPr>
        <p:txBody>
          <a:bodyPr wrap="square" lIns="0" tIns="0" rIns="0" bIns="0" rtlCol="0" anchor="ctr"/>
          <a:lstStyle/>
          <a:p>
            <a:pPr indent="0" marL="0">
              <a:buNone/>
            </a:pPr>
            <a:r>
              <a:rPr lang="en-US" sz="3100" dirty="0">
                <a:solidFill>
                  <a:srgbClr val="FFFFFF"/>
                </a:solidFill>
                <a:latin typeface="Segoe UI Semibold" pitchFamily="34" charset="0"/>
                <a:ea typeface="Segoe UI Semibold" pitchFamily="34" charset="-122"/>
                <a:cs typeface="Segoe UI Semibold" pitchFamily="34" charset="-120"/>
              </a:rPr>
              <a:t>Estimate</a:t>
            </a:r>
            <a:endParaRPr lang="en-US" sz="3100" dirty="0"/>
          </a:p>
          <a:p>
            <a:pPr indent="0" marL="0">
              <a:buNone/>
            </a:pPr>
            <a:r>
              <a:rPr lang="en-US" sz="3100" dirty="0">
                <a:solidFill>
                  <a:srgbClr val="FFFFFF"/>
                </a:solidFill>
                <a:latin typeface="Segoe UI Semibold" pitchFamily="34" charset="0"/>
                <a:ea typeface="Segoe UI Semibold" pitchFamily="34" charset="-122"/>
                <a:cs typeface="Segoe UI Semibold" pitchFamily="34" charset="-120"/>
              </a:rPr>
              <a:t>+ evidence</a:t>
            </a:r>
            <a:endParaRPr lang="en-US" sz="3100" dirty="0"/>
          </a:p>
          <a:p>
            <a:pPr indent="0" marL="0">
              <a:buNone/>
            </a:pPr>
            <a:r>
              <a:rPr lang="en-US" sz="3100" dirty="0">
                <a:solidFill>
                  <a:srgbClr val="FFFFFF"/>
                </a:solidFill>
                <a:latin typeface="Segoe UI Semibold" pitchFamily="34" charset="0"/>
                <a:ea typeface="Segoe UI Semibold" pitchFamily="34" charset="-122"/>
                <a:cs typeface="Segoe UI Semibold" pitchFamily="34" charset="-120"/>
              </a:rPr>
              <a:t>+ open questions</a:t>
            </a:r>
            <a:endParaRPr lang="en-US" sz="3100" dirty="0"/>
          </a:p>
        </p:txBody>
      </p:sp>
      <p:sp>
        <p:nvSpPr>
          <p:cNvPr id="10" name="Text 8"/>
          <p:cNvSpPr/>
          <p:nvPr/>
        </p:nvSpPr>
        <p:spPr>
          <a:xfrm>
            <a:off x="996696" y="4800600"/>
            <a:ext cx="3721608" cy="749808"/>
          </a:xfrm>
          <a:prstGeom prst="rect">
            <a:avLst/>
          </a:prstGeom>
          <a:noFill/>
          <a:ln/>
        </p:spPr>
        <p:txBody>
          <a:bodyPr wrap="square" lIns="0" tIns="0" rIns="0" bIns="0" rtlCol="0" anchor="ctr"/>
          <a:lstStyle/>
          <a:p>
            <a:pPr indent="0" marL="0">
              <a:buNone/>
            </a:pPr>
            <a:r>
              <a:rPr lang="en-US" sz="2000" dirty="0">
                <a:solidFill>
                  <a:srgbClr val="B6CCD1"/>
                </a:solidFill>
                <a:latin typeface="Segoe UI" pitchFamily="34" charset="0"/>
                <a:ea typeface="Segoe UI" pitchFamily="34" charset="-122"/>
                <a:cs typeface="Segoe UI" pitchFamily="34" charset="-120"/>
              </a:rPr>
              <a:t>A draft package the next</a:t>
            </a:r>
            <a:endParaRPr lang="en-US" sz="2000" dirty="0"/>
          </a:p>
          <a:p>
            <a:pPr indent="0" marL="0">
              <a:buNone/>
            </a:pPr>
            <a:r>
              <a:rPr lang="en-US" sz="2000" dirty="0">
                <a:solidFill>
                  <a:srgbClr val="B6CCD1"/>
                </a:solidFill>
                <a:latin typeface="Segoe UI" pitchFamily="34" charset="0"/>
                <a:ea typeface="Segoe UI" pitchFamily="34" charset="-122"/>
                <a:cs typeface="Segoe UI" pitchFamily="34" charset="-120"/>
              </a:rPr>
              <a:t>reviewer can inspect.</a:t>
            </a:r>
            <a:endParaRPr lang="en-US" sz="2000" dirty="0"/>
          </a:p>
        </p:txBody>
      </p:sp>
      <p:sp>
        <p:nvSpPr>
          <p:cNvPr id="11" name="Text 9"/>
          <p:cNvSpPr/>
          <p:nvPr/>
        </p:nvSpPr>
        <p:spPr>
          <a:xfrm>
            <a:off x="5760720" y="2103120"/>
            <a:ext cx="512064"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01</a:t>
            </a:r>
            <a:endParaRPr lang="en-US" sz="1100" dirty="0"/>
          </a:p>
        </p:txBody>
      </p:sp>
      <p:sp>
        <p:nvSpPr>
          <p:cNvPr id="12" name="Text 10"/>
          <p:cNvSpPr/>
          <p:nvPr/>
        </p:nvSpPr>
        <p:spPr>
          <a:xfrm>
            <a:off x="6483096" y="2066544"/>
            <a:ext cx="4937760" cy="365760"/>
          </a:xfrm>
          <a:prstGeom prst="rect">
            <a:avLst/>
          </a:prstGeom>
          <a:noFill/>
          <a:ln/>
        </p:spPr>
        <p:txBody>
          <a:bodyPr wrap="square" lIns="0" tIns="0" rIns="0" bIns="0" rtlCol="0" anchor="ctr"/>
          <a:lstStyle/>
          <a:p>
            <a:pPr indent="0" marL="0">
              <a:buNone/>
            </a:pPr>
            <a:r>
              <a:rPr lang="en-US" sz="2300" dirty="0">
                <a:solidFill>
                  <a:srgbClr val="002B3D"/>
                </a:solidFill>
                <a:latin typeface="Segoe UI Semibold" pitchFamily="34" charset="0"/>
                <a:ea typeface="Segoe UI Semibold" pitchFamily="34" charset="-122"/>
                <a:cs typeface="Segoe UI Semibold" pitchFamily="34" charset="-120"/>
              </a:rPr>
              <a:t>Draft offer</a:t>
            </a:r>
            <a:endParaRPr lang="en-US" sz="2300" dirty="0"/>
          </a:p>
        </p:txBody>
      </p:sp>
      <p:sp>
        <p:nvSpPr>
          <p:cNvPr id="13" name="Text 11"/>
          <p:cNvSpPr/>
          <p:nvPr/>
        </p:nvSpPr>
        <p:spPr>
          <a:xfrm>
            <a:off x="6483096" y="2542032"/>
            <a:ext cx="4937760" cy="429768"/>
          </a:xfrm>
          <a:prstGeom prst="rect">
            <a:avLst/>
          </a:prstGeom>
          <a:noFill/>
          <a:ln/>
        </p:spPr>
        <p:txBody>
          <a:bodyPr wrap="square" lIns="0" tIns="0" rIns="0" bIns="0" rtlCol="0" anchor="ctr"/>
          <a:lstStyle/>
          <a:p>
            <a:pPr indent="0" marL="0">
              <a:buNone/>
            </a:pPr>
            <a:r>
              <a:rPr lang="en-US" sz="1800" dirty="0">
                <a:solidFill>
                  <a:srgbClr val="536B76"/>
                </a:solidFill>
                <a:latin typeface="Segoe UI" pitchFamily="34" charset="0"/>
                <a:ea typeface="Segoe UI" pitchFamily="34" charset="-122"/>
                <a:cs typeface="Segoe UI" pitchFamily="34" charset="-120"/>
              </a:rPr>
              <a:t>German printable estimate</a:t>
            </a:r>
            <a:endParaRPr lang="en-US" sz="1800" dirty="0"/>
          </a:p>
        </p:txBody>
      </p:sp>
      <p:sp>
        <p:nvSpPr>
          <p:cNvPr id="14" name="Shape 12"/>
          <p:cNvSpPr/>
          <p:nvPr/>
        </p:nvSpPr>
        <p:spPr>
          <a:xfrm>
            <a:off x="5788152" y="3054096"/>
            <a:ext cx="5724144" cy="0"/>
          </a:xfrm>
          <a:prstGeom prst="line">
            <a:avLst/>
          </a:prstGeom>
          <a:noFill/>
          <a:ln w="10160">
            <a:solidFill>
              <a:srgbClr val="D6E2DE"/>
            </a:solidFill>
            <a:prstDash val="solid"/>
          </a:ln>
        </p:spPr>
      </p:sp>
      <p:sp>
        <p:nvSpPr>
          <p:cNvPr id="15" name="Text 13"/>
          <p:cNvSpPr/>
          <p:nvPr/>
        </p:nvSpPr>
        <p:spPr>
          <a:xfrm>
            <a:off x="5760720" y="3264408"/>
            <a:ext cx="512064"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02</a:t>
            </a:r>
            <a:endParaRPr lang="en-US" sz="1100" dirty="0"/>
          </a:p>
        </p:txBody>
      </p:sp>
      <p:sp>
        <p:nvSpPr>
          <p:cNvPr id="16" name="Text 14"/>
          <p:cNvSpPr/>
          <p:nvPr/>
        </p:nvSpPr>
        <p:spPr>
          <a:xfrm>
            <a:off x="6483096" y="3227832"/>
            <a:ext cx="4937760" cy="365760"/>
          </a:xfrm>
          <a:prstGeom prst="rect">
            <a:avLst/>
          </a:prstGeom>
          <a:noFill/>
          <a:ln/>
        </p:spPr>
        <p:txBody>
          <a:bodyPr wrap="square" lIns="0" tIns="0" rIns="0" bIns="0" rtlCol="0" anchor="ctr"/>
          <a:lstStyle/>
          <a:p>
            <a:pPr indent="0" marL="0">
              <a:buNone/>
            </a:pPr>
            <a:r>
              <a:rPr lang="en-US" sz="2300" dirty="0">
                <a:solidFill>
                  <a:srgbClr val="002B3D"/>
                </a:solidFill>
                <a:latin typeface="Segoe UI Semibold" pitchFamily="34" charset="0"/>
                <a:ea typeface="Segoe UI Semibold" pitchFamily="34" charset="-122"/>
                <a:cs typeface="Segoe UI Semibold" pitchFamily="34" charset="-120"/>
              </a:rPr>
              <a:t>Structured data</a:t>
            </a:r>
            <a:endParaRPr lang="en-US" sz="2300" dirty="0"/>
          </a:p>
        </p:txBody>
      </p:sp>
      <p:sp>
        <p:nvSpPr>
          <p:cNvPr id="17" name="Text 15"/>
          <p:cNvSpPr/>
          <p:nvPr/>
        </p:nvSpPr>
        <p:spPr>
          <a:xfrm>
            <a:off x="6483096" y="3703320"/>
            <a:ext cx="4937760" cy="429768"/>
          </a:xfrm>
          <a:prstGeom prst="rect">
            <a:avLst/>
          </a:prstGeom>
          <a:noFill/>
          <a:ln/>
        </p:spPr>
        <p:txBody>
          <a:bodyPr wrap="square" lIns="0" tIns="0" rIns="0" bIns="0" rtlCol="0" anchor="ctr"/>
          <a:lstStyle/>
          <a:p>
            <a:pPr indent="0" marL="0">
              <a:buNone/>
            </a:pPr>
            <a:r>
              <a:rPr lang="en-US" sz="1800" dirty="0">
                <a:solidFill>
                  <a:srgbClr val="536B76"/>
                </a:solidFill>
                <a:latin typeface="Segoe UI" pitchFamily="34" charset="0"/>
                <a:ea typeface="Segoe UI" pitchFamily="34" charset="-122"/>
                <a:cs typeface="Segoe UI" pitchFamily="34" charset="-120"/>
              </a:rPr>
              <a:t>CSV, JSON and calculation inputs</a:t>
            </a:r>
            <a:endParaRPr lang="en-US" sz="1800" dirty="0"/>
          </a:p>
        </p:txBody>
      </p:sp>
      <p:sp>
        <p:nvSpPr>
          <p:cNvPr id="18" name="Shape 16"/>
          <p:cNvSpPr/>
          <p:nvPr/>
        </p:nvSpPr>
        <p:spPr>
          <a:xfrm>
            <a:off x="5788152" y="4215384"/>
            <a:ext cx="5724144" cy="0"/>
          </a:xfrm>
          <a:prstGeom prst="line">
            <a:avLst/>
          </a:prstGeom>
          <a:noFill/>
          <a:ln w="10160">
            <a:solidFill>
              <a:srgbClr val="D6E2DE"/>
            </a:solidFill>
            <a:prstDash val="solid"/>
          </a:ln>
        </p:spPr>
      </p:sp>
      <p:sp>
        <p:nvSpPr>
          <p:cNvPr id="19" name="Text 17"/>
          <p:cNvSpPr/>
          <p:nvPr/>
        </p:nvSpPr>
        <p:spPr>
          <a:xfrm>
            <a:off x="5760720" y="4425696"/>
            <a:ext cx="512064"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03</a:t>
            </a:r>
            <a:endParaRPr lang="en-US" sz="1100" dirty="0"/>
          </a:p>
        </p:txBody>
      </p:sp>
      <p:sp>
        <p:nvSpPr>
          <p:cNvPr id="20" name="Text 18"/>
          <p:cNvSpPr/>
          <p:nvPr/>
        </p:nvSpPr>
        <p:spPr>
          <a:xfrm>
            <a:off x="6483096" y="4389120"/>
            <a:ext cx="4937760" cy="365760"/>
          </a:xfrm>
          <a:prstGeom prst="rect">
            <a:avLst/>
          </a:prstGeom>
          <a:noFill/>
          <a:ln/>
        </p:spPr>
        <p:txBody>
          <a:bodyPr wrap="square" lIns="0" tIns="0" rIns="0" bIns="0" rtlCol="0" anchor="ctr"/>
          <a:lstStyle/>
          <a:p>
            <a:pPr indent="0" marL="0">
              <a:buNone/>
            </a:pPr>
            <a:r>
              <a:rPr lang="en-US" sz="2300" dirty="0">
                <a:solidFill>
                  <a:srgbClr val="002B3D"/>
                </a:solidFill>
                <a:latin typeface="Segoe UI Semibold" pitchFamily="34" charset="0"/>
                <a:ea typeface="Segoe UI Semibold" pitchFamily="34" charset="-122"/>
                <a:cs typeface="Segoe UI Semibold" pitchFamily="34" charset="-120"/>
              </a:rPr>
              <a:t>Review package</a:t>
            </a:r>
            <a:endParaRPr lang="en-US" sz="2300" dirty="0"/>
          </a:p>
        </p:txBody>
      </p:sp>
      <p:sp>
        <p:nvSpPr>
          <p:cNvPr id="21" name="Text 19"/>
          <p:cNvSpPr/>
          <p:nvPr/>
        </p:nvSpPr>
        <p:spPr>
          <a:xfrm>
            <a:off x="6483096" y="4864608"/>
            <a:ext cx="4937760" cy="429768"/>
          </a:xfrm>
          <a:prstGeom prst="rect">
            <a:avLst/>
          </a:prstGeom>
          <a:noFill/>
          <a:ln/>
        </p:spPr>
        <p:txBody>
          <a:bodyPr wrap="square" lIns="0" tIns="0" rIns="0" bIns="0" rtlCol="0" anchor="ctr"/>
          <a:lstStyle/>
          <a:p>
            <a:pPr indent="0" marL="0">
              <a:buNone/>
            </a:pPr>
            <a:r>
              <a:rPr lang="en-US" sz="1800" dirty="0">
                <a:solidFill>
                  <a:srgbClr val="536B76"/>
                </a:solidFill>
                <a:latin typeface="Segoe UI" pitchFamily="34" charset="0"/>
                <a:ea typeface="Segoe UI" pitchFamily="34" charset="-122"/>
                <a:cs typeface="Segoe UI" pitchFamily="34" charset="-120"/>
              </a:rPr>
              <a:t>Source PDF, assumptions and issues</a:t>
            </a:r>
            <a:endParaRPr lang="en-US" sz="1800" dirty="0"/>
          </a:p>
        </p:txBody>
      </p:sp>
      <p:sp>
        <p:nvSpPr>
          <p:cNvPr id="22" name="Text 20"/>
          <p:cNvSpPr/>
          <p:nvPr/>
        </p:nvSpPr>
        <p:spPr>
          <a:xfrm>
            <a:off x="5824728" y="5724144"/>
            <a:ext cx="5541264" cy="411480"/>
          </a:xfrm>
          <a:prstGeom prst="rect">
            <a:avLst/>
          </a:prstGeom>
          <a:noFill/>
          <a:ln/>
        </p:spPr>
        <p:txBody>
          <a:bodyPr wrap="square" lIns="0" tIns="0" rIns="0" bIns="0" rtlCol="0" anchor="ctr"/>
          <a:lstStyle/>
          <a:p>
            <a:pPr indent="0" marL="0">
              <a:buNone/>
            </a:pPr>
            <a:r>
              <a:rPr lang="en-US" sz="1800" dirty="0">
                <a:solidFill>
                  <a:srgbClr val="267654"/>
                </a:solidFill>
                <a:latin typeface="Segoe UI Semibold" pitchFamily="34" charset="0"/>
                <a:ea typeface="Segoe UI Semibold" pitchFamily="34" charset="-122"/>
                <a:cs typeface="Segoe UI Semibold" pitchFamily="34" charset="-120"/>
              </a:rPr>
              <a:t>Exports stay tied to the saved revision.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PROPOSED NEXT STEP</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002B3D"/>
                </a:solidFill>
                <a:latin typeface="Segoe UI Semibold" pitchFamily="34" charset="0"/>
                <a:ea typeface="Segoe UI Semibold" pitchFamily="34" charset="-122"/>
                <a:cs typeface="Segoe UI Semibold" pitchFamily="34" charset="-120"/>
              </a:rPr>
              <a:t>Prove the value with estimators.</a:t>
            </a:r>
            <a:endParaRPr lang="en-US" sz="3500" dirty="0"/>
          </a:p>
        </p:txBody>
      </p:sp>
      <p:sp>
        <p:nvSpPr>
          <p:cNvPr id="4" name="Shape 2"/>
          <p:cNvSpPr/>
          <p:nvPr/>
        </p:nvSpPr>
        <p:spPr>
          <a:xfrm>
            <a:off x="548640" y="6455664"/>
            <a:ext cx="11091672" cy="0"/>
          </a:xfrm>
          <a:prstGeom prst="line">
            <a:avLst/>
          </a:prstGeom>
          <a:noFill/>
          <a:ln w="8255">
            <a:solidFill>
              <a:srgbClr val="D6E2DE"/>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536B76"/>
                </a:solidFill>
                <a:latin typeface="Segoe UI" pitchFamily="34" charset="0"/>
                <a:ea typeface="Segoe UI" pitchFamily="34" charset="-122"/>
                <a:cs typeface="Segoe UI" pitchFamily="34" charset="-120"/>
              </a:rPr>
              <a:t>09  /  10</a:t>
            </a:r>
            <a:endParaRPr lang="en-US" sz="900" dirty="0"/>
          </a:p>
        </p:txBody>
      </p:sp>
      <p:sp>
        <p:nvSpPr>
          <p:cNvPr id="7" name="Text 5"/>
          <p:cNvSpPr/>
          <p:nvPr/>
        </p:nvSpPr>
        <p:spPr>
          <a:xfrm>
            <a:off x="658368" y="1810512"/>
            <a:ext cx="4782312" cy="1426464"/>
          </a:xfrm>
          <a:prstGeom prst="rect">
            <a:avLst/>
          </a:prstGeom>
          <a:noFill/>
          <a:ln/>
        </p:spPr>
        <p:txBody>
          <a:bodyPr wrap="square" lIns="0" tIns="0" rIns="0" bIns="0" rtlCol="0" anchor="ctr"/>
          <a:lstStyle/>
          <a:p>
            <a:pPr indent="0" marL="0">
              <a:buNone/>
            </a:pPr>
            <a:r>
              <a:rPr lang="en-US" sz="9000" dirty="0">
                <a:solidFill>
                  <a:srgbClr val="002B3D"/>
                </a:solidFill>
                <a:latin typeface="Segoe UI Semibold" pitchFamily="34" charset="0"/>
                <a:ea typeface="Segoe UI Semibold" pitchFamily="34" charset="-122"/>
                <a:cs typeface="Segoe UI Semibold" pitchFamily="34" charset="-120"/>
              </a:rPr>
              <a:t>5–10</a:t>
            </a:r>
            <a:endParaRPr lang="en-US" sz="9000" dirty="0"/>
          </a:p>
        </p:txBody>
      </p:sp>
      <p:sp>
        <p:nvSpPr>
          <p:cNvPr id="8" name="Text 6"/>
          <p:cNvSpPr/>
          <p:nvPr/>
        </p:nvSpPr>
        <p:spPr>
          <a:xfrm>
            <a:off x="795528" y="3374136"/>
            <a:ext cx="4718304" cy="832104"/>
          </a:xfrm>
          <a:prstGeom prst="rect">
            <a:avLst/>
          </a:prstGeom>
          <a:noFill/>
          <a:ln/>
        </p:spPr>
        <p:txBody>
          <a:bodyPr wrap="square" lIns="0" tIns="0" rIns="0" bIns="0" rtlCol="0" anchor="ctr"/>
          <a:lstStyle/>
          <a:p>
            <a:pPr indent="0" marL="0">
              <a:buNone/>
            </a:pPr>
            <a:r>
              <a:rPr lang="en-US" sz="2500" dirty="0">
                <a:solidFill>
                  <a:srgbClr val="536B76"/>
                </a:solidFill>
                <a:latin typeface="Segoe UI" pitchFamily="34" charset="0"/>
                <a:ea typeface="Segoe UI" pitchFamily="34" charset="-122"/>
                <a:cs typeface="Segoe UI" pitchFamily="34" charset="-120"/>
              </a:rPr>
              <a:t>historical tenders</a:t>
            </a:r>
            <a:endParaRPr lang="en-US" sz="2500" dirty="0"/>
          </a:p>
          <a:p>
            <a:pPr indent="0" marL="0">
              <a:buNone/>
            </a:pPr>
            <a:r>
              <a:rPr lang="en-US" sz="2500" dirty="0">
                <a:solidFill>
                  <a:srgbClr val="536B76"/>
                </a:solidFill>
                <a:latin typeface="Segoe UI" pitchFamily="34" charset="0"/>
                <a:ea typeface="Segoe UI" pitchFamily="34" charset="-122"/>
                <a:cs typeface="Segoe UI" pitchFamily="34" charset="-120"/>
              </a:rPr>
              <a:t>for a proposed pilot</a:t>
            </a:r>
            <a:endParaRPr lang="en-US" sz="2500" dirty="0"/>
          </a:p>
        </p:txBody>
      </p:sp>
      <p:sp>
        <p:nvSpPr>
          <p:cNvPr id="9" name="Shape 7"/>
          <p:cNvSpPr/>
          <p:nvPr/>
        </p:nvSpPr>
        <p:spPr>
          <a:xfrm>
            <a:off x="5760720" y="2020824"/>
            <a:ext cx="146304" cy="146304"/>
          </a:xfrm>
          <a:prstGeom prst="ellipse">
            <a:avLst/>
          </a:prstGeom>
          <a:solidFill>
            <a:srgbClr val="267654"/>
          </a:solidFill>
          <a:ln w="12700">
            <a:solidFill>
              <a:srgbClr val="267654">
                <a:alpha val="0"/>
              </a:srgbClr>
            </a:solidFill>
            <a:prstDash val="solid"/>
          </a:ln>
        </p:spPr>
      </p:sp>
      <p:sp>
        <p:nvSpPr>
          <p:cNvPr id="10" name="Text 8"/>
          <p:cNvSpPr/>
          <p:nvPr/>
        </p:nvSpPr>
        <p:spPr>
          <a:xfrm>
            <a:off x="6117336" y="1901952"/>
            <a:ext cx="5303520" cy="365760"/>
          </a:xfrm>
          <a:prstGeom prst="rect">
            <a:avLst/>
          </a:prstGeom>
          <a:noFill/>
          <a:ln/>
        </p:spPr>
        <p:txBody>
          <a:bodyPr wrap="square" lIns="0" tIns="0" rIns="0" bIns="0" rtlCol="0" anchor="ctr"/>
          <a:lstStyle/>
          <a:p>
            <a:pPr indent="0" marL="0">
              <a:buNone/>
            </a:pPr>
            <a:r>
              <a:rPr lang="en-US" sz="2400" dirty="0">
                <a:solidFill>
                  <a:srgbClr val="002B3D"/>
                </a:solidFill>
                <a:latin typeface="Segoe UI Semibold" pitchFamily="34" charset="0"/>
                <a:ea typeface="Segoe UI Semibold" pitchFamily="34" charset="-122"/>
                <a:cs typeface="Segoe UI Semibold" pitchFamily="34" charset="-120"/>
              </a:rPr>
              <a:t>Test</a:t>
            </a:r>
            <a:endParaRPr lang="en-US" sz="2400" dirty="0"/>
          </a:p>
        </p:txBody>
      </p:sp>
      <p:sp>
        <p:nvSpPr>
          <p:cNvPr id="11" name="Text 9"/>
          <p:cNvSpPr/>
          <p:nvPr/>
        </p:nvSpPr>
        <p:spPr>
          <a:xfrm>
            <a:off x="6126480" y="2340864"/>
            <a:ext cx="5349240" cy="521208"/>
          </a:xfrm>
          <a:prstGeom prst="rect">
            <a:avLst/>
          </a:prstGeom>
          <a:noFill/>
          <a:ln/>
        </p:spPr>
        <p:txBody>
          <a:bodyPr wrap="square" lIns="0" tIns="0" rIns="0" bIns="0" rtlCol="0" anchor="ctr"/>
          <a:lstStyle/>
          <a:p>
            <a:pPr indent="0" marL="0">
              <a:buNone/>
            </a:pPr>
            <a:r>
              <a:rPr lang="en-US" sz="1700" dirty="0">
                <a:solidFill>
                  <a:srgbClr val="536B76"/>
                </a:solidFill>
                <a:latin typeface="Segoe UI" pitchFamily="34" charset="0"/>
                <a:ea typeface="Segoe UI" pitchFamily="34" charset="-122"/>
                <a:cs typeface="Segoe UI" pitchFamily="34" charset="-120"/>
              </a:rPr>
              <a:t>Compare against reviewed estimates.</a:t>
            </a:r>
            <a:endParaRPr lang="en-US" sz="1700" dirty="0"/>
          </a:p>
        </p:txBody>
      </p:sp>
      <p:sp>
        <p:nvSpPr>
          <p:cNvPr id="12" name="Shape 10"/>
          <p:cNvSpPr/>
          <p:nvPr/>
        </p:nvSpPr>
        <p:spPr>
          <a:xfrm>
            <a:off x="5760720" y="3136392"/>
            <a:ext cx="146304" cy="146304"/>
          </a:xfrm>
          <a:prstGeom prst="ellipse">
            <a:avLst/>
          </a:prstGeom>
          <a:solidFill>
            <a:srgbClr val="267654"/>
          </a:solidFill>
          <a:ln w="12700">
            <a:solidFill>
              <a:srgbClr val="267654">
                <a:alpha val="0"/>
              </a:srgbClr>
            </a:solidFill>
            <a:prstDash val="solid"/>
          </a:ln>
        </p:spPr>
      </p:sp>
      <p:sp>
        <p:nvSpPr>
          <p:cNvPr id="13" name="Text 11"/>
          <p:cNvSpPr/>
          <p:nvPr/>
        </p:nvSpPr>
        <p:spPr>
          <a:xfrm>
            <a:off x="6117336" y="3017520"/>
            <a:ext cx="5303520" cy="365760"/>
          </a:xfrm>
          <a:prstGeom prst="rect">
            <a:avLst/>
          </a:prstGeom>
          <a:noFill/>
          <a:ln/>
        </p:spPr>
        <p:txBody>
          <a:bodyPr wrap="square" lIns="0" tIns="0" rIns="0" bIns="0" rtlCol="0" anchor="ctr"/>
          <a:lstStyle/>
          <a:p>
            <a:pPr indent="0" marL="0">
              <a:buNone/>
            </a:pPr>
            <a:r>
              <a:rPr lang="en-US" sz="2400" dirty="0">
                <a:solidFill>
                  <a:srgbClr val="002B3D"/>
                </a:solidFill>
                <a:latin typeface="Segoe UI Semibold" pitchFamily="34" charset="0"/>
                <a:ea typeface="Segoe UI Semibold" pitchFamily="34" charset="-122"/>
                <a:cs typeface="Segoe UI Semibold" pitchFamily="34" charset="-120"/>
              </a:rPr>
              <a:t>Measure</a:t>
            </a:r>
            <a:endParaRPr lang="en-US" sz="2400" dirty="0"/>
          </a:p>
        </p:txBody>
      </p:sp>
      <p:sp>
        <p:nvSpPr>
          <p:cNvPr id="14" name="Text 12"/>
          <p:cNvSpPr/>
          <p:nvPr/>
        </p:nvSpPr>
        <p:spPr>
          <a:xfrm>
            <a:off x="6126480" y="3456432"/>
            <a:ext cx="5349240" cy="521208"/>
          </a:xfrm>
          <a:prstGeom prst="rect">
            <a:avLst/>
          </a:prstGeom>
          <a:noFill/>
          <a:ln/>
        </p:spPr>
        <p:txBody>
          <a:bodyPr wrap="square" lIns="0" tIns="0" rIns="0" bIns="0" rtlCol="0" anchor="ctr"/>
          <a:lstStyle/>
          <a:p>
            <a:pPr indent="0" marL="0">
              <a:buNone/>
            </a:pPr>
            <a:r>
              <a:rPr lang="en-US" sz="1700" dirty="0">
                <a:solidFill>
                  <a:srgbClr val="536B76"/>
                </a:solidFill>
                <a:latin typeface="Segoe UI" pitchFamily="34" charset="0"/>
                <a:ea typeface="Segoe UI" pitchFamily="34" charset="-122"/>
                <a:cs typeface="Segoe UI" pitchFamily="34" charset="-120"/>
              </a:rPr>
              <a:t>Review time, corrections and coverage.</a:t>
            </a:r>
            <a:endParaRPr lang="en-US" sz="1700" dirty="0"/>
          </a:p>
        </p:txBody>
      </p:sp>
      <p:sp>
        <p:nvSpPr>
          <p:cNvPr id="15" name="Shape 13"/>
          <p:cNvSpPr/>
          <p:nvPr/>
        </p:nvSpPr>
        <p:spPr>
          <a:xfrm>
            <a:off x="5760720" y="4251960"/>
            <a:ext cx="146304" cy="146304"/>
          </a:xfrm>
          <a:prstGeom prst="ellipse">
            <a:avLst/>
          </a:prstGeom>
          <a:solidFill>
            <a:srgbClr val="267654"/>
          </a:solidFill>
          <a:ln w="12700">
            <a:solidFill>
              <a:srgbClr val="267654">
                <a:alpha val="0"/>
              </a:srgbClr>
            </a:solidFill>
            <a:prstDash val="solid"/>
          </a:ln>
        </p:spPr>
      </p:sp>
      <p:sp>
        <p:nvSpPr>
          <p:cNvPr id="16" name="Text 14"/>
          <p:cNvSpPr/>
          <p:nvPr/>
        </p:nvSpPr>
        <p:spPr>
          <a:xfrm>
            <a:off x="6117336" y="4133088"/>
            <a:ext cx="5303520" cy="365760"/>
          </a:xfrm>
          <a:prstGeom prst="rect">
            <a:avLst/>
          </a:prstGeom>
          <a:noFill/>
          <a:ln/>
        </p:spPr>
        <p:txBody>
          <a:bodyPr wrap="square" lIns="0" tIns="0" rIns="0" bIns="0" rtlCol="0" anchor="ctr"/>
          <a:lstStyle/>
          <a:p>
            <a:pPr indent="0" marL="0">
              <a:buNone/>
            </a:pPr>
            <a:r>
              <a:rPr lang="en-US" sz="2400" dirty="0">
                <a:solidFill>
                  <a:srgbClr val="002B3D"/>
                </a:solidFill>
                <a:latin typeface="Segoe UI Semibold" pitchFamily="34" charset="0"/>
                <a:ea typeface="Segoe UI Semibold" pitchFamily="34" charset="-122"/>
                <a:cs typeface="Segoe UI Semibold" pitchFamily="34" charset="-120"/>
              </a:rPr>
              <a:t>Connect</a:t>
            </a:r>
            <a:endParaRPr lang="en-US" sz="2400" dirty="0"/>
          </a:p>
        </p:txBody>
      </p:sp>
      <p:sp>
        <p:nvSpPr>
          <p:cNvPr id="17" name="Text 15"/>
          <p:cNvSpPr/>
          <p:nvPr/>
        </p:nvSpPr>
        <p:spPr>
          <a:xfrm>
            <a:off x="6126480" y="4572000"/>
            <a:ext cx="5349240" cy="521208"/>
          </a:xfrm>
          <a:prstGeom prst="rect">
            <a:avLst/>
          </a:prstGeom>
          <a:noFill/>
          <a:ln/>
        </p:spPr>
        <p:txBody>
          <a:bodyPr wrap="square" lIns="0" tIns="0" rIns="0" bIns="0" rtlCol="0" anchor="ctr"/>
          <a:lstStyle/>
          <a:p>
            <a:pPr indent="0" marL="0">
              <a:buNone/>
            </a:pPr>
            <a:r>
              <a:rPr lang="en-US" sz="1700" dirty="0">
                <a:solidFill>
                  <a:srgbClr val="536B76"/>
                </a:solidFill>
                <a:latin typeface="Segoe UI" pitchFamily="34" charset="0"/>
                <a:ea typeface="Segoe UI" pitchFamily="34" charset="-122"/>
                <a:cs typeface="Segoe UI" pitchFamily="34" charset="-120"/>
              </a:rPr>
              <a:t>Current supplier data and team controls.</a:t>
            </a:r>
            <a:endParaRPr lang="en-US" sz="1700" dirty="0"/>
          </a:p>
        </p:txBody>
      </p:sp>
      <p:sp>
        <p:nvSpPr>
          <p:cNvPr id="18" name="Shape 16"/>
          <p:cNvSpPr/>
          <p:nvPr/>
        </p:nvSpPr>
        <p:spPr>
          <a:xfrm>
            <a:off x="704088" y="5367528"/>
            <a:ext cx="10817352" cy="704088"/>
          </a:xfrm>
          <a:prstGeom prst="rect">
            <a:avLst/>
          </a:prstGeom>
          <a:solidFill>
            <a:srgbClr val="E6F3EC"/>
          </a:solidFill>
          <a:ln w="12700">
            <a:solidFill>
              <a:srgbClr val="E6F3EC">
                <a:alpha val="0"/>
              </a:srgbClr>
            </a:solidFill>
            <a:prstDash val="solid"/>
          </a:ln>
        </p:spPr>
      </p:sp>
      <p:sp>
        <p:nvSpPr>
          <p:cNvPr id="19" name="Text 17"/>
          <p:cNvSpPr/>
          <p:nvPr/>
        </p:nvSpPr>
        <p:spPr>
          <a:xfrm>
            <a:off x="923544" y="5431536"/>
            <a:ext cx="10378440" cy="530352"/>
          </a:xfrm>
          <a:prstGeom prst="rect">
            <a:avLst/>
          </a:prstGeom>
          <a:noFill/>
          <a:ln/>
        </p:spPr>
        <p:txBody>
          <a:bodyPr wrap="square" lIns="0" tIns="0" rIns="0" bIns="0" rtlCol="0" anchor="ctr"/>
          <a:lstStyle/>
          <a:p>
            <a:pPr indent="0" marL="0">
              <a:buNone/>
            </a:pPr>
            <a:r>
              <a:rPr lang="en-US" sz="2100" dirty="0">
                <a:solidFill>
                  <a:srgbClr val="002B3D"/>
                </a:solidFill>
                <a:latin typeface="Segoe UI Semibold" pitchFamily="34" charset="0"/>
                <a:ea typeface="Segoe UI Semibold" pitchFamily="34" charset="-122"/>
                <a:cs typeface="Segoe UI Semibold" pitchFamily="34" charset="-120"/>
              </a:rPr>
              <a:t>Pilot success = less review effort, with errors and gaps still visible.</a:t>
            </a:r>
            <a:endParaRPr lang="en-US" sz="2100" dirty="0"/>
          </a:p>
        </p:txBody>
      </p:sp>
      <p:sp>
        <p:nvSpPr>
          <p:cNvPr id="20" name="Text 18"/>
          <p:cNvSpPr/>
          <p:nvPr/>
        </p:nvSpPr>
        <p:spPr>
          <a:xfrm>
            <a:off x="813816" y="6217920"/>
            <a:ext cx="10789920" cy="173736"/>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Pilot proposal; time savings and commercial impact have not yet been measured.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2B3D"/>
        </a:solidFill>
      </p:bgPr>
    </p:bg>
    <p:spTree>
      <p:nvGrpSpPr>
        <p:cNvPr id="1" name=""/>
        <p:cNvGrpSpPr/>
        <p:nvPr/>
      </p:nvGrpSpPr>
      <p:grpSpPr>
        <a:xfrm>
          <a:off x="0" y="0"/>
          <a:ext cx="0" cy="0"/>
          <a:chOff x="0" y="0"/>
          <a:chExt cx="0" cy="0"/>
        </a:xfrm>
      </p:grpSpPr>
      <p:sp>
        <p:nvSpPr>
          <p:cNvPr id="2" name="Text 0"/>
          <p:cNvSpPr/>
          <p:nvPr/>
        </p:nvSpPr>
        <p:spPr>
          <a:xfrm>
            <a:off x="713232" y="612648"/>
            <a:ext cx="9144000" cy="237744"/>
          </a:xfrm>
          <a:prstGeom prst="rect">
            <a:avLst/>
          </a:prstGeom>
          <a:noFill/>
          <a:ln/>
        </p:spPr>
        <p:txBody>
          <a:bodyPr wrap="square" lIns="0" tIns="0" rIns="0" bIns="0" rtlCol="0" anchor="ctr"/>
          <a:lstStyle/>
          <a:p>
            <a:pPr indent="0" marL="0">
              <a:buNone/>
            </a:pPr>
            <a:r>
              <a:rPr lang="en-US" sz="1100" spc="210" kern="0" dirty="0">
                <a:solidFill>
                  <a:srgbClr val="83D6B2"/>
                </a:solidFill>
                <a:latin typeface="Segoe UI Semibold" pitchFamily="34" charset="0"/>
                <a:ea typeface="Segoe UI Semibold" pitchFamily="34" charset="-122"/>
                <a:cs typeface="Segoe UI Semibold" pitchFamily="34" charset="-120"/>
              </a:rPr>
              <a:t>BIDGENIUS AI</a:t>
            </a:r>
            <a:endParaRPr lang="en-US" sz="1100" dirty="0"/>
          </a:p>
        </p:txBody>
      </p:sp>
      <p:sp>
        <p:nvSpPr>
          <p:cNvPr id="3" name="Text 1"/>
          <p:cNvSpPr/>
          <p:nvPr/>
        </p:nvSpPr>
        <p:spPr>
          <a:xfrm>
            <a:off x="667512" y="1691640"/>
            <a:ext cx="10835640" cy="2834640"/>
          </a:xfrm>
          <a:prstGeom prst="rect">
            <a:avLst/>
          </a:prstGeom>
          <a:noFill/>
          <a:ln/>
        </p:spPr>
        <p:txBody>
          <a:bodyPr wrap="square" lIns="0" tIns="0" rIns="0" bIns="0" rtlCol="0" anchor="ctr"/>
          <a:lstStyle/>
          <a:p>
            <a:pPr indent="0" marL="0">
              <a:buNone/>
            </a:pPr>
            <a:r>
              <a:rPr lang="en-US" sz="5500" dirty="0">
                <a:solidFill>
                  <a:srgbClr val="FFFFFF"/>
                </a:solidFill>
                <a:latin typeface="Segoe UI Semibold" pitchFamily="34" charset="0"/>
                <a:ea typeface="Segoe UI Semibold" pitchFamily="34" charset="-122"/>
                <a:cs typeface="Segoe UI Semibold" pitchFamily="34" charset="-120"/>
              </a:rPr>
              <a:t>Read the tender.</a:t>
            </a:r>
            <a:endParaRPr lang="en-US" sz="5500" dirty="0"/>
          </a:p>
          <a:p>
            <a:pPr indent="0" marL="0">
              <a:buNone/>
            </a:pPr>
            <a:r>
              <a:rPr lang="en-US" sz="5500" dirty="0">
                <a:solidFill>
                  <a:srgbClr val="FFFFFF"/>
                </a:solidFill>
                <a:latin typeface="Segoe UI Semibold" pitchFamily="34" charset="0"/>
                <a:ea typeface="Segoe UI Semibold" pitchFamily="34" charset="-122"/>
                <a:cs typeface="Segoe UI Semibold" pitchFamily="34" charset="-120"/>
              </a:rPr>
              <a:t>See the gaps.</a:t>
            </a:r>
            <a:endParaRPr lang="en-US" sz="5500" dirty="0"/>
          </a:p>
          <a:p>
            <a:pPr indent="0" marL="0">
              <a:buNone/>
            </a:pPr>
            <a:r>
              <a:rPr lang="en-US" sz="5500" dirty="0">
                <a:solidFill>
                  <a:srgbClr val="FFFFFF"/>
                </a:solidFill>
                <a:latin typeface="Segoe UI Semibold" pitchFamily="34" charset="0"/>
                <a:ea typeface="Segoe UI Semibold" pitchFamily="34" charset="-122"/>
                <a:cs typeface="Segoe UI Semibold" pitchFamily="34" charset="-120"/>
              </a:rPr>
              <a:t>Defend the price.</a:t>
            </a:r>
            <a:endParaRPr lang="en-US" sz="5500" dirty="0"/>
          </a:p>
        </p:txBody>
      </p:sp>
      <p:sp>
        <p:nvSpPr>
          <p:cNvPr id="4" name="Shape 2"/>
          <p:cNvSpPr/>
          <p:nvPr/>
        </p:nvSpPr>
        <p:spPr>
          <a:xfrm>
            <a:off x="694944" y="4507992"/>
            <a:ext cx="6739128" cy="91440"/>
          </a:xfrm>
          <a:prstGeom prst="rect">
            <a:avLst/>
          </a:prstGeom>
          <a:solidFill>
            <a:srgbClr val="83D6B2"/>
          </a:solidFill>
          <a:ln w="12700">
            <a:solidFill>
              <a:srgbClr val="83D6B2">
                <a:alpha val="0"/>
              </a:srgbClr>
            </a:solidFill>
            <a:prstDash val="solid"/>
          </a:ln>
        </p:spPr>
      </p:sp>
      <p:sp>
        <p:nvSpPr>
          <p:cNvPr id="5" name="Text 3"/>
          <p:cNvSpPr/>
          <p:nvPr/>
        </p:nvSpPr>
        <p:spPr>
          <a:xfrm>
            <a:off x="749808" y="5074920"/>
            <a:ext cx="10607040" cy="539496"/>
          </a:xfrm>
          <a:prstGeom prst="rect">
            <a:avLst/>
          </a:prstGeom>
          <a:noFill/>
          <a:ln/>
        </p:spPr>
        <p:txBody>
          <a:bodyPr wrap="square" lIns="0" tIns="0" rIns="0" bIns="0" rtlCol="0" anchor="ctr"/>
          <a:lstStyle/>
          <a:p>
            <a:pPr indent="0" marL="0">
              <a:buNone/>
            </a:pPr>
            <a:r>
              <a:rPr lang="en-US" sz="2400" dirty="0">
                <a:solidFill>
                  <a:srgbClr val="83D6B2"/>
                </a:solidFill>
                <a:latin typeface="Segoe UI Semibold" pitchFamily="34" charset="0"/>
                <a:ea typeface="Segoe UI Semibold" pitchFamily="34" charset="-122"/>
                <a:cs typeface="Segoe UI Semibold" pitchFamily="34" charset="-120"/>
              </a:rPr>
              <a:t>Next: a measured pilot with Equans estimators.</a:t>
            </a:r>
            <a:endParaRPr lang="en-US" sz="2400" dirty="0"/>
          </a:p>
        </p:txBody>
      </p:sp>
      <p:sp>
        <p:nvSpPr>
          <p:cNvPr id="6" name="Text 4"/>
          <p:cNvSpPr/>
          <p:nvPr/>
        </p:nvSpPr>
        <p:spPr>
          <a:xfrm>
            <a:off x="758952" y="5861304"/>
            <a:ext cx="7315200" cy="292608"/>
          </a:xfrm>
          <a:prstGeom prst="rect">
            <a:avLst/>
          </a:prstGeom>
          <a:noFill/>
          <a:ln/>
        </p:spPr>
        <p:txBody>
          <a:bodyPr wrap="square" lIns="0" tIns="0" rIns="0" bIns="0" rtlCol="0" anchor="ctr"/>
          <a:lstStyle/>
          <a:p>
            <a:pPr indent="0" marL="0">
              <a:buNone/>
            </a:pPr>
            <a:r>
              <a:rPr lang="en-US" sz="1800" dirty="0">
                <a:solidFill>
                  <a:srgbClr val="B6CCD1"/>
                </a:solidFill>
                <a:latin typeface="Segoe UI" pitchFamily="34" charset="0"/>
                <a:ea typeface="Segoe UI" pitchFamily="34" charset="-122"/>
                <a:cs typeface="Segoe UI" pitchFamily="34" charset="-120"/>
              </a:rPr>
              <a:t>Thank you.</a:t>
            </a:r>
            <a:endParaRPr lang="en-US" sz="1800" dirty="0"/>
          </a:p>
        </p:txBody>
      </p:sp>
      <p:sp>
        <p:nvSpPr>
          <p:cNvPr id="7" name="Shape 5"/>
          <p:cNvSpPr/>
          <p:nvPr/>
        </p:nvSpPr>
        <p:spPr>
          <a:xfrm>
            <a:off x="548640" y="6455664"/>
            <a:ext cx="11091672" cy="0"/>
          </a:xfrm>
          <a:prstGeom prst="line">
            <a:avLst/>
          </a:prstGeom>
          <a:noFill/>
          <a:ln w="8255">
            <a:solidFill>
              <a:srgbClr val="0A3C4C"/>
            </a:solidFill>
            <a:prstDash val="solid"/>
          </a:ln>
        </p:spPr>
      </p:sp>
      <p:sp>
        <p:nvSpPr>
          <p:cNvPr id="8" name="Text 6"/>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B6CCD1"/>
                </a:solidFill>
                <a:latin typeface="Segoe UI" pitchFamily="34" charset="0"/>
                <a:ea typeface="Segoe UI" pitchFamily="34" charset="-122"/>
                <a:cs typeface="Segoe UI" pitchFamily="34" charset="-120"/>
              </a:rPr>
              <a:t>BidGenius AI  /  Equans challenge</a:t>
            </a:r>
            <a:endParaRPr lang="en-US" sz="900" dirty="0"/>
          </a:p>
        </p:txBody>
      </p:sp>
      <p:sp>
        <p:nvSpPr>
          <p:cNvPr id="9" name="Text 7"/>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B6CCD1"/>
                </a:solidFill>
                <a:latin typeface="Segoe UI" pitchFamily="34" charset="0"/>
                <a:ea typeface="Segoe UI" pitchFamily="34" charset="-122"/>
                <a:cs typeface="Segoe UI" pitchFamily="34" charset="-120"/>
              </a:rPr>
              <a:t>10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BACKUP / HOW IT WORKS</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002B3D"/>
                </a:solidFill>
                <a:latin typeface="Segoe UI Semibold" pitchFamily="34" charset="0"/>
                <a:ea typeface="Segoe UI Semibold" pitchFamily="34" charset="-122"/>
                <a:cs typeface="Segoe UI Semibold" pitchFamily="34" charset="-120"/>
              </a:rPr>
              <a:t>AI interprets. Code prices. People approve.</a:t>
            </a:r>
            <a:endParaRPr lang="en-US" sz="3500" dirty="0"/>
          </a:p>
        </p:txBody>
      </p:sp>
      <p:sp>
        <p:nvSpPr>
          <p:cNvPr id="4" name="Shape 2"/>
          <p:cNvSpPr/>
          <p:nvPr/>
        </p:nvSpPr>
        <p:spPr>
          <a:xfrm>
            <a:off x="548640" y="6455664"/>
            <a:ext cx="11091672" cy="0"/>
          </a:xfrm>
          <a:prstGeom prst="line">
            <a:avLst/>
          </a:prstGeom>
          <a:noFill/>
          <a:ln w="8255">
            <a:solidFill>
              <a:srgbClr val="D6E2DE"/>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536B76"/>
                </a:solidFill>
                <a:latin typeface="Segoe UI" pitchFamily="34" charset="0"/>
                <a:ea typeface="Segoe UI" pitchFamily="34" charset="-122"/>
                <a:cs typeface="Segoe UI" pitchFamily="34" charset="-120"/>
              </a:rPr>
              <a:t>Q&amp;A  /  01</a:t>
            </a:r>
            <a:endParaRPr lang="en-US" sz="900" dirty="0"/>
          </a:p>
        </p:txBody>
      </p:sp>
      <p:sp>
        <p:nvSpPr>
          <p:cNvPr id="7" name="Shape 5"/>
          <p:cNvSpPr/>
          <p:nvPr/>
        </p:nvSpPr>
        <p:spPr>
          <a:xfrm>
            <a:off x="694944" y="2139696"/>
            <a:ext cx="2578608" cy="1874520"/>
          </a:xfrm>
          <a:prstGeom prst="rect">
            <a:avLst/>
          </a:prstGeom>
          <a:solidFill>
            <a:srgbClr val="FFFFFF"/>
          </a:solidFill>
          <a:ln w="12700">
            <a:solidFill>
              <a:srgbClr val="FFFFFF">
                <a:alpha val="0"/>
              </a:srgbClr>
            </a:solidFill>
            <a:prstDash val="solid"/>
          </a:ln>
        </p:spPr>
      </p:sp>
      <p:sp>
        <p:nvSpPr>
          <p:cNvPr id="8" name="Text 6"/>
          <p:cNvSpPr/>
          <p:nvPr/>
        </p:nvSpPr>
        <p:spPr>
          <a:xfrm>
            <a:off x="896112" y="2350008"/>
            <a:ext cx="18288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01</a:t>
            </a:r>
            <a:endParaRPr lang="en-US" sz="1100" dirty="0"/>
          </a:p>
        </p:txBody>
      </p:sp>
      <p:sp>
        <p:nvSpPr>
          <p:cNvPr id="9" name="Text 7"/>
          <p:cNvSpPr/>
          <p:nvPr/>
        </p:nvSpPr>
        <p:spPr>
          <a:xfrm>
            <a:off x="896112" y="2770632"/>
            <a:ext cx="2212848" cy="411480"/>
          </a:xfrm>
          <a:prstGeom prst="rect">
            <a:avLst/>
          </a:prstGeom>
          <a:noFill/>
          <a:ln/>
        </p:spPr>
        <p:txBody>
          <a:bodyPr wrap="square" lIns="0" tIns="0" rIns="0" bIns="0" rtlCol="0" anchor="ctr"/>
          <a:lstStyle/>
          <a:p>
            <a:pPr indent="0" marL="0">
              <a:buNone/>
            </a:pPr>
            <a:r>
              <a:rPr lang="en-US" sz="1900" dirty="0">
                <a:solidFill>
                  <a:srgbClr val="002B3D"/>
                </a:solidFill>
                <a:latin typeface="Segoe UI Semibold" pitchFamily="34" charset="0"/>
                <a:ea typeface="Segoe UI Semibold" pitchFamily="34" charset="-122"/>
                <a:cs typeface="Segoe UI Semibold" pitchFamily="34" charset="-120"/>
              </a:rPr>
              <a:t>Source inputs</a:t>
            </a:r>
            <a:endParaRPr lang="en-US" sz="1900" dirty="0"/>
          </a:p>
        </p:txBody>
      </p:sp>
      <p:sp>
        <p:nvSpPr>
          <p:cNvPr id="10" name="Text 8"/>
          <p:cNvSpPr/>
          <p:nvPr/>
        </p:nvSpPr>
        <p:spPr>
          <a:xfrm>
            <a:off x="896112" y="3246120"/>
            <a:ext cx="2185416" cy="557784"/>
          </a:xfrm>
          <a:prstGeom prst="rect">
            <a:avLst/>
          </a:prstGeom>
          <a:noFill/>
          <a:ln/>
        </p:spPr>
        <p:txBody>
          <a:bodyPr wrap="square" lIns="0" tIns="0" rIns="0" bIns="0" rtlCol="0" anchor="ctr"/>
          <a:lstStyle/>
          <a:p>
            <a:pPr indent="0" marL="0">
              <a:buNone/>
            </a:pPr>
            <a:r>
              <a:rPr lang="en-US" sz="1400" dirty="0">
                <a:solidFill>
                  <a:srgbClr val="536B76"/>
                </a:solidFill>
                <a:latin typeface="Segoe UI" pitchFamily="34" charset="0"/>
                <a:ea typeface="Segoe UI" pitchFamily="34" charset="-122"/>
                <a:cs typeface="Segoe UI" pitchFamily="34" charset="-120"/>
              </a:rPr>
              <a:t>PDF + catalogue</a:t>
            </a:r>
            <a:endParaRPr lang="en-US" sz="1400" dirty="0"/>
          </a:p>
          <a:p>
            <a:pPr indent="0" marL="0">
              <a:buNone/>
            </a:pPr>
            <a:r>
              <a:rPr lang="en-US" sz="1400" dirty="0">
                <a:solidFill>
                  <a:srgbClr val="536B76"/>
                </a:solidFill>
                <a:latin typeface="Segoe UI" pitchFamily="34" charset="0"/>
                <a:ea typeface="Segoe UI" pitchFamily="34" charset="-122"/>
                <a:cs typeface="Segoe UI" pitchFamily="34" charset="-120"/>
              </a:rPr>
              <a:t>+ productivity rules</a:t>
            </a:r>
            <a:endParaRPr lang="en-US" sz="1400" dirty="0"/>
          </a:p>
        </p:txBody>
      </p:sp>
      <p:sp>
        <p:nvSpPr>
          <p:cNvPr id="11" name="Text 9"/>
          <p:cNvSpPr/>
          <p:nvPr/>
        </p:nvSpPr>
        <p:spPr>
          <a:xfrm>
            <a:off x="3273552" y="2788920"/>
            <a:ext cx="219456" cy="274320"/>
          </a:xfrm>
          <a:prstGeom prst="rect">
            <a:avLst/>
          </a:prstGeom>
          <a:noFill/>
          <a:ln/>
        </p:spPr>
        <p:txBody>
          <a:bodyPr wrap="square" lIns="0" tIns="0" rIns="0" bIns="0" rtlCol="0" anchor="ctr"/>
          <a:lstStyle/>
          <a:p>
            <a:pPr algn="ctr" indent="0" marL="0">
              <a:buNone/>
            </a:pPr>
            <a:r>
              <a:rPr lang="en-US" sz="1700" dirty="0">
                <a:solidFill>
                  <a:srgbClr val="267654"/>
                </a:solidFill>
                <a:latin typeface="Segoe UI" pitchFamily="34" charset="0"/>
                <a:ea typeface="Segoe UI" pitchFamily="34" charset="-122"/>
                <a:cs typeface="Segoe UI" pitchFamily="34" charset="-120"/>
              </a:rPr>
              <a:t>→</a:t>
            </a:r>
            <a:endParaRPr lang="en-US" sz="1700" dirty="0"/>
          </a:p>
        </p:txBody>
      </p:sp>
      <p:sp>
        <p:nvSpPr>
          <p:cNvPr id="12" name="Shape 10"/>
          <p:cNvSpPr/>
          <p:nvPr/>
        </p:nvSpPr>
        <p:spPr>
          <a:xfrm>
            <a:off x="3483864" y="2139696"/>
            <a:ext cx="2578608" cy="1874520"/>
          </a:xfrm>
          <a:prstGeom prst="rect">
            <a:avLst/>
          </a:prstGeom>
          <a:solidFill>
            <a:srgbClr val="FFFFFF"/>
          </a:solidFill>
          <a:ln w="12700">
            <a:solidFill>
              <a:srgbClr val="FFFFFF">
                <a:alpha val="0"/>
              </a:srgbClr>
            </a:solidFill>
            <a:prstDash val="solid"/>
          </a:ln>
        </p:spPr>
      </p:sp>
      <p:sp>
        <p:nvSpPr>
          <p:cNvPr id="13" name="Text 11"/>
          <p:cNvSpPr/>
          <p:nvPr/>
        </p:nvSpPr>
        <p:spPr>
          <a:xfrm>
            <a:off x="3685032" y="2350008"/>
            <a:ext cx="18288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02</a:t>
            </a:r>
            <a:endParaRPr lang="en-US" sz="1100" dirty="0"/>
          </a:p>
        </p:txBody>
      </p:sp>
      <p:sp>
        <p:nvSpPr>
          <p:cNvPr id="14" name="Text 12"/>
          <p:cNvSpPr/>
          <p:nvPr/>
        </p:nvSpPr>
        <p:spPr>
          <a:xfrm>
            <a:off x="3685032" y="2770632"/>
            <a:ext cx="2212848" cy="411480"/>
          </a:xfrm>
          <a:prstGeom prst="rect">
            <a:avLst/>
          </a:prstGeom>
          <a:noFill/>
          <a:ln/>
        </p:spPr>
        <p:txBody>
          <a:bodyPr wrap="square" lIns="0" tIns="0" rIns="0" bIns="0" rtlCol="0" anchor="ctr"/>
          <a:lstStyle/>
          <a:p>
            <a:pPr indent="0" marL="0">
              <a:buNone/>
            </a:pPr>
            <a:r>
              <a:rPr lang="en-US" sz="1900" dirty="0">
                <a:solidFill>
                  <a:srgbClr val="002B3D"/>
                </a:solidFill>
                <a:latin typeface="Segoe UI Semibold" pitchFamily="34" charset="0"/>
                <a:ea typeface="Segoe UI Semibold" pitchFamily="34" charset="-122"/>
                <a:cs typeface="Segoe UI Semibold" pitchFamily="34" charset="-120"/>
              </a:rPr>
              <a:t>Interpretation</a:t>
            </a:r>
            <a:endParaRPr lang="en-US" sz="1900" dirty="0"/>
          </a:p>
        </p:txBody>
      </p:sp>
      <p:sp>
        <p:nvSpPr>
          <p:cNvPr id="15" name="Text 13"/>
          <p:cNvSpPr/>
          <p:nvPr/>
        </p:nvSpPr>
        <p:spPr>
          <a:xfrm>
            <a:off x="3685032" y="3246120"/>
            <a:ext cx="2185416" cy="557784"/>
          </a:xfrm>
          <a:prstGeom prst="rect">
            <a:avLst/>
          </a:prstGeom>
          <a:noFill/>
          <a:ln/>
        </p:spPr>
        <p:txBody>
          <a:bodyPr wrap="square" lIns="0" tIns="0" rIns="0" bIns="0" rtlCol="0" anchor="ctr"/>
          <a:lstStyle/>
          <a:p>
            <a:pPr indent="0" marL="0">
              <a:buNone/>
            </a:pPr>
            <a:r>
              <a:rPr lang="en-US" sz="1400" dirty="0">
                <a:solidFill>
                  <a:srgbClr val="536B76"/>
                </a:solidFill>
                <a:latin typeface="Segoe UI" pitchFamily="34" charset="0"/>
                <a:ea typeface="Segoe UI" pitchFamily="34" charset="-122"/>
                <a:cs typeface="Segoe UI" pitchFamily="34" charset="-120"/>
              </a:rPr>
              <a:t>Local parsing</a:t>
            </a:r>
            <a:endParaRPr lang="en-US" sz="1400" dirty="0"/>
          </a:p>
          <a:p>
            <a:pPr indent="0" marL="0">
              <a:buNone/>
            </a:pPr>
            <a:r>
              <a:rPr lang="en-US" sz="1400" dirty="0">
                <a:solidFill>
                  <a:srgbClr val="536B76"/>
                </a:solidFill>
                <a:latin typeface="Segoe UI" pitchFamily="34" charset="0"/>
                <a:ea typeface="Segoe UI" pitchFamily="34" charset="-122"/>
                <a:cs typeface="Segoe UI" pitchFamily="34" charset="-120"/>
              </a:rPr>
              <a:t>+ optional AI proposals</a:t>
            </a:r>
            <a:endParaRPr lang="en-US" sz="1400" dirty="0"/>
          </a:p>
        </p:txBody>
      </p:sp>
      <p:sp>
        <p:nvSpPr>
          <p:cNvPr id="16" name="Text 14"/>
          <p:cNvSpPr/>
          <p:nvPr/>
        </p:nvSpPr>
        <p:spPr>
          <a:xfrm>
            <a:off x="6062472" y="2788920"/>
            <a:ext cx="219456" cy="274320"/>
          </a:xfrm>
          <a:prstGeom prst="rect">
            <a:avLst/>
          </a:prstGeom>
          <a:noFill/>
          <a:ln/>
        </p:spPr>
        <p:txBody>
          <a:bodyPr wrap="square" lIns="0" tIns="0" rIns="0" bIns="0" rtlCol="0" anchor="ctr"/>
          <a:lstStyle/>
          <a:p>
            <a:pPr algn="ctr" indent="0" marL="0">
              <a:buNone/>
            </a:pPr>
            <a:r>
              <a:rPr lang="en-US" sz="1700" dirty="0">
                <a:solidFill>
                  <a:srgbClr val="267654"/>
                </a:solidFill>
                <a:latin typeface="Segoe UI" pitchFamily="34" charset="0"/>
                <a:ea typeface="Segoe UI" pitchFamily="34" charset="-122"/>
                <a:cs typeface="Segoe UI" pitchFamily="34" charset="-120"/>
              </a:rPr>
              <a:t>→</a:t>
            </a:r>
            <a:endParaRPr lang="en-US" sz="1700" dirty="0"/>
          </a:p>
        </p:txBody>
      </p:sp>
      <p:sp>
        <p:nvSpPr>
          <p:cNvPr id="17" name="Shape 15"/>
          <p:cNvSpPr/>
          <p:nvPr/>
        </p:nvSpPr>
        <p:spPr>
          <a:xfrm>
            <a:off x="6272784" y="2139696"/>
            <a:ext cx="2578608" cy="1874520"/>
          </a:xfrm>
          <a:prstGeom prst="rect">
            <a:avLst/>
          </a:prstGeom>
          <a:solidFill>
            <a:srgbClr val="002B3D"/>
          </a:solidFill>
          <a:ln w="12700">
            <a:solidFill>
              <a:srgbClr val="002B3D">
                <a:alpha val="0"/>
              </a:srgbClr>
            </a:solidFill>
            <a:prstDash val="solid"/>
          </a:ln>
        </p:spPr>
      </p:sp>
      <p:sp>
        <p:nvSpPr>
          <p:cNvPr id="18" name="Text 16"/>
          <p:cNvSpPr/>
          <p:nvPr/>
        </p:nvSpPr>
        <p:spPr>
          <a:xfrm>
            <a:off x="6473952" y="2350008"/>
            <a:ext cx="1828800" cy="237744"/>
          </a:xfrm>
          <a:prstGeom prst="rect">
            <a:avLst/>
          </a:prstGeom>
          <a:noFill/>
          <a:ln/>
        </p:spPr>
        <p:txBody>
          <a:bodyPr wrap="square" lIns="0" tIns="0" rIns="0" bIns="0" rtlCol="0" anchor="ctr"/>
          <a:lstStyle/>
          <a:p>
            <a:pPr indent="0" marL="0">
              <a:buNone/>
            </a:pPr>
            <a:r>
              <a:rPr lang="en-US" sz="1100" spc="210" kern="0" dirty="0">
                <a:solidFill>
                  <a:srgbClr val="83D6B2"/>
                </a:solidFill>
                <a:latin typeface="Segoe UI Semibold" pitchFamily="34" charset="0"/>
                <a:ea typeface="Segoe UI Semibold" pitchFamily="34" charset="-122"/>
                <a:cs typeface="Segoe UI Semibold" pitchFamily="34" charset="-120"/>
              </a:rPr>
              <a:t>03</a:t>
            </a:r>
            <a:endParaRPr lang="en-US" sz="1100" dirty="0"/>
          </a:p>
        </p:txBody>
      </p:sp>
      <p:sp>
        <p:nvSpPr>
          <p:cNvPr id="19" name="Text 17"/>
          <p:cNvSpPr/>
          <p:nvPr/>
        </p:nvSpPr>
        <p:spPr>
          <a:xfrm>
            <a:off x="6473952" y="2770632"/>
            <a:ext cx="2212848" cy="411480"/>
          </a:xfrm>
          <a:prstGeom prst="rect">
            <a:avLst/>
          </a:prstGeom>
          <a:noFill/>
          <a:ln/>
        </p:spPr>
        <p:txBody>
          <a:bodyPr wrap="square" lIns="0" tIns="0" rIns="0" bIns="0" rtlCol="0" anchor="ctr"/>
          <a:lstStyle/>
          <a:p>
            <a:pPr indent="0" marL="0">
              <a:buNone/>
            </a:pPr>
            <a:r>
              <a:rPr lang="en-US" sz="1900" dirty="0">
                <a:solidFill>
                  <a:srgbClr val="FFFFFF"/>
                </a:solidFill>
                <a:latin typeface="Segoe UI Semibold" pitchFamily="34" charset="0"/>
                <a:ea typeface="Segoe UI Semibold" pitchFamily="34" charset="-122"/>
                <a:cs typeface="Segoe UI Semibold" pitchFamily="34" charset="-120"/>
              </a:rPr>
              <a:t>Calculation</a:t>
            </a:r>
            <a:endParaRPr lang="en-US" sz="1900" dirty="0"/>
          </a:p>
        </p:txBody>
      </p:sp>
      <p:sp>
        <p:nvSpPr>
          <p:cNvPr id="20" name="Text 18"/>
          <p:cNvSpPr/>
          <p:nvPr/>
        </p:nvSpPr>
        <p:spPr>
          <a:xfrm>
            <a:off x="6473952" y="3246120"/>
            <a:ext cx="2185416" cy="557784"/>
          </a:xfrm>
          <a:prstGeom prst="rect">
            <a:avLst/>
          </a:prstGeom>
          <a:noFill/>
          <a:ln/>
        </p:spPr>
        <p:txBody>
          <a:bodyPr wrap="square" lIns="0" tIns="0" rIns="0" bIns="0" rtlCol="0" anchor="ctr"/>
          <a:lstStyle/>
          <a:p>
            <a:pPr indent="0" marL="0">
              <a:buNone/>
            </a:pPr>
            <a:r>
              <a:rPr lang="en-US" sz="1400" dirty="0">
                <a:solidFill>
                  <a:srgbClr val="B6CCD1"/>
                </a:solidFill>
                <a:latin typeface="Segoe UI" pitchFamily="34" charset="0"/>
                <a:ea typeface="Segoe UI" pitchFamily="34" charset="-122"/>
                <a:cs typeface="Segoe UI" pitchFamily="34" charset="-120"/>
              </a:rPr>
              <a:t>Validated inputs</a:t>
            </a:r>
            <a:endParaRPr lang="en-US" sz="1400" dirty="0"/>
          </a:p>
          <a:p>
            <a:pPr indent="0" marL="0">
              <a:buNone/>
            </a:pPr>
            <a:r>
              <a:rPr lang="en-US" sz="1400" dirty="0">
                <a:solidFill>
                  <a:srgbClr val="B6CCD1"/>
                </a:solidFill>
                <a:latin typeface="Segoe UI" pitchFamily="34" charset="0"/>
                <a:ea typeface="Segoe UI" pitchFamily="34" charset="-122"/>
                <a:cs typeface="Segoe UI" pitchFamily="34" charset="-120"/>
              </a:rPr>
              <a:t>+ Decimal arithmetic</a:t>
            </a:r>
            <a:endParaRPr lang="en-US" sz="1400" dirty="0"/>
          </a:p>
        </p:txBody>
      </p:sp>
      <p:sp>
        <p:nvSpPr>
          <p:cNvPr id="21" name="Text 19"/>
          <p:cNvSpPr/>
          <p:nvPr/>
        </p:nvSpPr>
        <p:spPr>
          <a:xfrm>
            <a:off x="8851392" y="2788920"/>
            <a:ext cx="219456" cy="274320"/>
          </a:xfrm>
          <a:prstGeom prst="rect">
            <a:avLst/>
          </a:prstGeom>
          <a:noFill/>
          <a:ln/>
        </p:spPr>
        <p:txBody>
          <a:bodyPr wrap="square" lIns="0" tIns="0" rIns="0" bIns="0" rtlCol="0" anchor="ctr"/>
          <a:lstStyle/>
          <a:p>
            <a:pPr algn="ctr" indent="0" marL="0">
              <a:buNone/>
            </a:pPr>
            <a:r>
              <a:rPr lang="en-US" sz="1700" dirty="0">
                <a:solidFill>
                  <a:srgbClr val="267654"/>
                </a:solidFill>
                <a:latin typeface="Segoe UI" pitchFamily="34" charset="0"/>
                <a:ea typeface="Segoe UI" pitchFamily="34" charset="-122"/>
                <a:cs typeface="Segoe UI" pitchFamily="34" charset="-120"/>
              </a:rPr>
              <a:t>→</a:t>
            </a:r>
            <a:endParaRPr lang="en-US" sz="1700" dirty="0"/>
          </a:p>
        </p:txBody>
      </p:sp>
      <p:sp>
        <p:nvSpPr>
          <p:cNvPr id="22" name="Shape 20"/>
          <p:cNvSpPr/>
          <p:nvPr/>
        </p:nvSpPr>
        <p:spPr>
          <a:xfrm>
            <a:off x="9061704" y="2139696"/>
            <a:ext cx="2578608" cy="1874520"/>
          </a:xfrm>
          <a:prstGeom prst="rect">
            <a:avLst/>
          </a:prstGeom>
          <a:solidFill>
            <a:srgbClr val="FFFFFF"/>
          </a:solidFill>
          <a:ln w="12700">
            <a:solidFill>
              <a:srgbClr val="FFFFFF">
                <a:alpha val="0"/>
              </a:srgbClr>
            </a:solidFill>
            <a:prstDash val="solid"/>
          </a:ln>
        </p:spPr>
      </p:sp>
      <p:sp>
        <p:nvSpPr>
          <p:cNvPr id="23" name="Text 21"/>
          <p:cNvSpPr/>
          <p:nvPr/>
        </p:nvSpPr>
        <p:spPr>
          <a:xfrm>
            <a:off x="9262872" y="2350008"/>
            <a:ext cx="18288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04</a:t>
            </a:r>
            <a:endParaRPr lang="en-US" sz="1100" dirty="0"/>
          </a:p>
        </p:txBody>
      </p:sp>
      <p:sp>
        <p:nvSpPr>
          <p:cNvPr id="24" name="Text 22"/>
          <p:cNvSpPr/>
          <p:nvPr/>
        </p:nvSpPr>
        <p:spPr>
          <a:xfrm>
            <a:off x="9262872" y="2770632"/>
            <a:ext cx="2212848" cy="411480"/>
          </a:xfrm>
          <a:prstGeom prst="rect">
            <a:avLst/>
          </a:prstGeom>
          <a:noFill/>
          <a:ln/>
        </p:spPr>
        <p:txBody>
          <a:bodyPr wrap="square" lIns="0" tIns="0" rIns="0" bIns="0" rtlCol="0" anchor="ctr"/>
          <a:lstStyle/>
          <a:p>
            <a:pPr indent="0" marL="0">
              <a:buNone/>
            </a:pPr>
            <a:r>
              <a:rPr lang="en-US" sz="1900" dirty="0">
                <a:solidFill>
                  <a:srgbClr val="002B3D"/>
                </a:solidFill>
                <a:latin typeface="Segoe UI Semibold" pitchFamily="34" charset="0"/>
                <a:ea typeface="Segoe UI Semibold" pitchFamily="34" charset="-122"/>
                <a:cs typeface="Segoe UI Semibold" pitchFamily="34" charset="-120"/>
              </a:rPr>
              <a:t>Review + export</a:t>
            </a:r>
            <a:endParaRPr lang="en-US" sz="1900" dirty="0"/>
          </a:p>
        </p:txBody>
      </p:sp>
      <p:sp>
        <p:nvSpPr>
          <p:cNvPr id="25" name="Text 23"/>
          <p:cNvSpPr/>
          <p:nvPr/>
        </p:nvSpPr>
        <p:spPr>
          <a:xfrm>
            <a:off x="9262872" y="3246120"/>
            <a:ext cx="2185416" cy="557784"/>
          </a:xfrm>
          <a:prstGeom prst="rect">
            <a:avLst/>
          </a:prstGeom>
          <a:noFill/>
          <a:ln/>
        </p:spPr>
        <p:txBody>
          <a:bodyPr wrap="square" lIns="0" tIns="0" rIns="0" bIns="0" rtlCol="0" anchor="ctr"/>
          <a:lstStyle/>
          <a:p>
            <a:pPr indent="0" marL="0">
              <a:buNone/>
            </a:pPr>
            <a:r>
              <a:rPr lang="en-US" sz="1400" dirty="0">
                <a:solidFill>
                  <a:srgbClr val="536B76"/>
                </a:solidFill>
                <a:latin typeface="Segoe UI" pitchFamily="34" charset="0"/>
                <a:ea typeface="Segoe UI" pitchFamily="34" charset="-122"/>
                <a:cs typeface="Segoe UI" pitchFamily="34" charset="-120"/>
              </a:rPr>
              <a:t>Reasons + revisions</a:t>
            </a:r>
            <a:endParaRPr lang="en-US" sz="1400" dirty="0"/>
          </a:p>
          <a:p>
            <a:pPr indent="0" marL="0">
              <a:buNone/>
            </a:pPr>
            <a:r>
              <a:rPr lang="en-US" sz="1400" dirty="0">
                <a:solidFill>
                  <a:srgbClr val="536B76"/>
                </a:solidFill>
                <a:latin typeface="Segoe UI" pitchFamily="34" charset="0"/>
                <a:ea typeface="Segoe UI" pitchFamily="34" charset="-122"/>
                <a:cs typeface="Segoe UI" pitchFamily="34" charset="-120"/>
              </a:rPr>
              <a:t>+ pinned snapshots</a:t>
            </a:r>
            <a:endParaRPr lang="en-US" sz="1400" dirty="0"/>
          </a:p>
        </p:txBody>
      </p:sp>
      <p:sp>
        <p:nvSpPr>
          <p:cNvPr id="26" name="Text 24"/>
          <p:cNvSpPr/>
          <p:nvPr/>
        </p:nvSpPr>
        <p:spPr>
          <a:xfrm>
            <a:off x="813816" y="4507992"/>
            <a:ext cx="10789920" cy="448056"/>
          </a:xfrm>
          <a:prstGeom prst="rect">
            <a:avLst/>
          </a:prstGeom>
          <a:noFill/>
          <a:ln/>
        </p:spPr>
        <p:txBody>
          <a:bodyPr wrap="square" lIns="0" tIns="0" rIns="0" bIns="0" rtlCol="0" anchor="ctr"/>
          <a:lstStyle/>
          <a:p>
            <a:pPr indent="0" marL="0">
              <a:buNone/>
            </a:pPr>
            <a:r>
              <a:rPr lang="en-US" sz="2200" dirty="0">
                <a:solidFill>
                  <a:srgbClr val="002B3D"/>
                </a:solidFill>
                <a:latin typeface="Segoe UI Semibold" pitchFamily="34" charset="0"/>
                <a:ea typeface="Segoe UI Semibold" pitchFamily="34" charset="-122"/>
                <a:cs typeface="Segoe UI Semibold" pitchFamily="34" charset="-120"/>
              </a:rPr>
              <a:t>React + TypeScript  →  FastAPI  →  SQLite + local files</a:t>
            </a:r>
            <a:endParaRPr lang="en-US" sz="2200" dirty="0"/>
          </a:p>
        </p:txBody>
      </p:sp>
      <p:sp>
        <p:nvSpPr>
          <p:cNvPr id="27" name="Text 25"/>
          <p:cNvSpPr/>
          <p:nvPr/>
        </p:nvSpPr>
        <p:spPr>
          <a:xfrm>
            <a:off x="822960" y="5175504"/>
            <a:ext cx="10515600" cy="393192"/>
          </a:xfrm>
          <a:prstGeom prst="rect">
            <a:avLst/>
          </a:prstGeom>
          <a:noFill/>
          <a:ln/>
        </p:spPr>
        <p:txBody>
          <a:bodyPr wrap="square" lIns="0" tIns="0" rIns="0" bIns="0" rtlCol="0" anchor="ctr"/>
          <a:lstStyle/>
          <a:p>
            <a:pPr indent="0" marL="0">
              <a:buNone/>
            </a:pPr>
            <a:r>
              <a:rPr lang="en-US" sz="1800" dirty="0">
                <a:solidFill>
                  <a:srgbClr val="536B76"/>
                </a:solidFill>
                <a:latin typeface="Segoe UI" pitchFamily="34" charset="0"/>
                <a:ea typeface="Segoe UI" pitchFamily="34" charset="-122"/>
                <a:cs typeface="Segoe UI" pitchFamily="34" charset="-120"/>
              </a:rPr>
              <a:t>LangGraph checkpoints preserve completed processing batches.</a:t>
            </a:r>
            <a:endParaRPr lang="en-US" sz="1800" dirty="0"/>
          </a:p>
        </p:txBody>
      </p:sp>
      <p:sp>
        <p:nvSpPr>
          <p:cNvPr id="28" name="Text 26"/>
          <p:cNvSpPr/>
          <p:nvPr/>
        </p:nvSpPr>
        <p:spPr>
          <a:xfrm>
            <a:off x="822960" y="5760720"/>
            <a:ext cx="10607040" cy="429768"/>
          </a:xfrm>
          <a:prstGeom prst="rect">
            <a:avLst/>
          </a:prstGeom>
          <a:noFill/>
          <a:ln/>
        </p:spPr>
        <p:txBody>
          <a:bodyPr wrap="square" lIns="0" tIns="0" rIns="0" bIns="0" rtlCol="0" anchor="ctr"/>
          <a:lstStyle/>
          <a:p>
            <a:pPr indent="0" marL="0">
              <a:buNone/>
            </a:pPr>
            <a:r>
              <a:rPr lang="en-US" sz="1700" dirty="0">
                <a:solidFill>
                  <a:srgbClr val="267654"/>
                </a:solidFill>
                <a:latin typeface="Segoe UI" pitchFamily="34" charset="0"/>
                <a:ea typeface="Segoe UI" pitchFamily="34" charset="-122"/>
                <a:cs typeface="Segoe UI" pitchFamily="34" charset="-120"/>
              </a:rPr>
              <a:t>Local review works offline. Optional AI sends selected excerpts to an external API.</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BACKUP / SCOPE</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002B3D"/>
                </a:solidFill>
                <a:latin typeface="Segoe UI Semibold" pitchFamily="34" charset="0"/>
                <a:ea typeface="Segoe UI Semibold" pitchFamily="34" charset="-122"/>
                <a:cs typeface="Segoe UI Semibold" pitchFamily="34" charset="-120"/>
              </a:rPr>
              <a:t>What still needs validation?</a:t>
            </a:r>
            <a:endParaRPr lang="en-US" sz="3500" dirty="0"/>
          </a:p>
        </p:txBody>
      </p:sp>
      <p:sp>
        <p:nvSpPr>
          <p:cNvPr id="4" name="Shape 2"/>
          <p:cNvSpPr/>
          <p:nvPr/>
        </p:nvSpPr>
        <p:spPr>
          <a:xfrm>
            <a:off x="548640" y="6455664"/>
            <a:ext cx="11091672" cy="0"/>
          </a:xfrm>
          <a:prstGeom prst="line">
            <a:avLst/>
          </a:prstGeom>
          <a:noFill/>
          <a:ln w="8255">
            <a:solidFill>
              <a:srgbClr val="D6E2DE"/>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536B76"/>
                </a:solidFill>
                <a:latin typeface="Segoe UI" pitchFamily="34" charset="0"/>
                <a:ea typeface="Segoe UI" pitchFamily="34" charset="-122"/>
                <a:cs typeface="Segoe UI" pitchFamily="34" charset="-120"/>
              </a:rPr>
              <a:t>Q&amp;A  /  02</a:t>
            </a:r>
            <a:endParaRPr lang="en-US" sz="900" dirty="0"/>
          </a:p>
        </p:txBody>
      </p:sp>
      <p:sp>
        <p:nvSpPr>
          <p:cNvPr id="7" name="Shape 5"/>
          <p:cNvSpPr/>
          <p:nvPr/>
        </p:nvSpPr>
        <p:spPr>
          <a:xfrm>
            <a:off x="704088" y="1883664"/>
            <a:ext cx="50292" cy="749808"/>
          </a:xfrm>
          <a:prstGeom prst="rect">
            <a:avLst/>
          </a:prstGeom>
          <a:solidFill>
            <a:srgbClr val="267654"/>
          </a:solidFill>
          <a:ln w="12700">
            <a:solidFill>
              <a:srgbClr val="267654">
                <a:alpha val="0"/>
              </a:srgbClr>
            </a:solidFill>
            <a:prstDash val="solid"/>
          </a:ln>
        </p:spPr>
      </p:sp>
      <p:sp>
        <p:nvSpPr>
          <p:cNvPr id="8" name="Text 6"/>
          <p:cNvSpPr/>
          <p:nvPr/>
        </p:nvSpPr>
        <p:spPr>
          <a:xfrm>
            <a:off x="932688" y="1883664"/>
            <a:ext cx="2907792" cy="384048"/>
          </a:xfrm>
          <a:prstGeom prst="rect">
            <a:avLst/>
          </a:prstGeom>
          <a:noFill/>
          <a:ln/>
        </p:spPr>
        <p:txBody>
          <a:bodyPr wrap="square" lIns="0" tIns="0" rIns="0" bIns="0" rtlCol="0" anchor="ctr"/>
          <a:lstStyle/>
          <a:p>
            <a:pPr indent="0" marL="0">
              <a:buNone/>
            </a:pPr>
            <a:r>
              <a:rPr lang="en-US" sz="2200" dirty="0">
                <a:solidFill>
                  <a:srgbClr val="002B3D"/>
                </a:solidFill>
                <a:latin typeface="Segoe UI Semibold" pitchFamily="34" charset="0"/>
                <a:ea typeface="Segoe UI Semibold" pitchFamily="34" charset="-122"/>
                <a:cs typeface="Segoe UI Semibold" pitchFamily="34" charset="-120"/>
              </a:rPr>
              <a:t>Coverage</a:t>
            </a:r>
            <a:endParaRPr lang="en-US" sz="2200" dirty="0"/>
          </a:p>
        </p:txBody>
      </p:sp>
      <p:sp>
        <p:nvSpPr>
          <p:cNvPr id="9" name="Text 7"/>
          <p:cNvSpPr/>
          <p:nvPr/>
        </p:nvSpPr>
        <p:spPr>
          <a:xfrm>
            <a:off x="3977640" y="1883664"/>
            <a:ext cx="7424928" cy="749808"/>
          </a:xfrm>
          <a:prstGeom prst="rect">
            <a:avLst/>
          </a:prstGeom>
          <a:noFill/>
          <a:ln/>
        </p:spPr>
        <p:txBody>
          <a:bodyPr wrap="square" lIns="0" tIns="0" rIns="0" bIns="0" rtlCol="0" anchor="ctr"/>
          <a:lstStyle/>
          <a:p>
            <a:pPr indent="0" marL="0">
              <a:buNone/>
            </a:pPr>
            <a:r>
              <a:rPr lang="en-US" sz="1700" dirty="0">
                <a:solidFill>
                  <a:srgbClr val="536B76"/>
                </a:solidFill>
                <a:latin typeface="Segoe UI" pitchFamily="34" charset="0"/>
                <a:ea typeface="Segoe UI" pitchFamily="34" charset="-122"/>
                <a:cs typeface="Segoe UI" pitchFamily="34" charset="-120"/>
              </a:rPr>
              <a:t>Page attempts do not prove complete extraction.</a:t>
            </a:r>
            <a:endParaRPr lang="en-US" sz="1700" dirty="0"/>
          </a:p>
          <a:p>
            <a:pPr indent="0" marL="0">
              <a:buNone/>
            </a:pPr>
            <a:r>
              <a:rPr lang="en-US" sz="1700" dirty="0">
                <a:solidFill>
                  <a:srgbClr val="536B76"/>
                </a:solidFill>
                <a:latin typeface="Segoe UI" pitchFamily="34" charset="0"/>
                <a:ea typeface="Segoe UI" pitchFamily="34" charset="-122"/>
                <a:cs typeface="Segoe UI" pitchFamily="34" charset="-120"/>
              </a:rPr>
              <a:t>Page 201, drawings and missing quantities need review.</a:t>
            </a:r>
            <a:endParaRPr lang="en-US" sz="1700" dirty="0"/>
          </a:p>
        </p:txBody>
      </p:sp>
      <p:sp>
        <p:nvSpPr>
          <p:cNvPr id="10" name="Shape 8"/>
          <p:cNvSpPr/>
          <p:nvPr/>
        </p:nvSpPr>
        <p:spPr>
          <a:xfrm>
            <a:off x="932688" y="2788920"/>
            <a:ext cx="10561320" cy="0"/>
          </a:xfrm>
          <a:prstGeom prst="line">
            <a:avLst/>
          </a:prstGeom>
          <a:noFill/>
          <a:ln w="8890">
            <a:solidFill>
              <a:srgbClr val="D6E2DE"/>
            </a:solidFill>
            <a:prstDash val="solid"/>
          </a:ln>
        </p:spPr>
      </p:sp>
      <p:sp>
        <p:nvSpPr>
          <p:cNvPr id="11" name="Shape 9"/>
          <p:cNvSpPr/>
          <p:nvPr/>
        </p:nvSpPr>
        <p:spPr>
          <a:xfrm>
            <a:off x="704088" y="2916936"/>
            <a:ext cx="50292" cy="749808"/>
          </a:xfrm>
          <a:prstGeom prst="rect">
            <a:avLst/>
          </a:prstGeom>
          <a:solidFill>
            <a:srgbClr val="267654"/>
          </a:solidFill>
          <a:ln w="12700">
            <a:solidFill>
              <a:srgbClr val="267654">
                <a:alpha val="0"/>
              </a:srgbClr>
            </a:solidFill>
            <a:prstDash val="solid"/>
          </a:ln>
        </p:spPr>
      </p:sp>
      <p:sp>
        <p:nvSpPr>
          <p:cNvPr id="12" name="Text 10"/>
          <p:cNvSpPr/>
          <p:nvPr/>
        </p:nvSpPr>
        <p:spPr>
          <a:xfrm>
            <a:off x="932688" y="2916936"/>
            <a:ext cx="2907792" cy="384048"/>
          </a:xfrm>
          <a:prstGeom prst="rect">
            <a:avLst/>
          </a:prstGeom>
          <a:noFill/>
          <a:ln/>
        </p:spPr>
        <p:txBody>
          <a:bodyPr wrap="square" lIns="0" tIns="0" rIns="0" bIns="0" rtlCol="0" anchor="ctr"/>
          <a:lstStyle/>
          <a:p>
            <a:pPr indent="0" marL="0">
              <a:buNone/>
            </a:pPr>
            <a:r>
              <a:rPr lang="en-US" sz="2200" dirty="0">
                <a:solidFill>
                  <a:srgbClr val="002B3D"/>
                </a:solidFill>
                <a:latin typeface="Segoe UI Semibold" pitchFamily="34" charset="0"/>
                <a:ea typeface="Segoe UI Semibold" pitchFamily="34" charset="-122"/>
                <a:cs typeface="Segoe UI Semibold" pitchFamily="34" charset="-120"/>
              </a:rPr>
              <a:t>Pricing</a:t>
            </a:r>
            <a:endParaRPr lang="en-US" sz="2200" dirty="0"/>
          </a:p>
        </p:txBody>
      </p:sp>
      <p:sp>
        <p:nvSpPr>
          <p:cNvPr id="13" name="Text 11"/>
          <p:cNvSpPr/>
          <p:nvPr/>
        </p:nvSpPr>
        <p:spPr>
          <a:xfrm>
            <a:off x="3977640" y="2916936"/>
            <a:ext cx="7424928" cy="749808"/>
          </a:xfrm>
          <a:prstGeom prst="rect">
            <a:avLst/>
          </a:prstGeom>
          <a:noFill/>
          <a:ln/>
        </p:spPr>
        <p:txBody>
          <a:bodyPr wrap="square" lIns="0" tIns="0" rIns="0" bIns="0" rtlCol="0" anchor="ctr"/>
          <a:lstStyle/>
          <a:p>
            <a:pPr indent="0" marL="0">
              <a:buNone/>
            </a:pPr>
            <a:r>
              <a:rPr lang="en-US" sz="1700" dirty="0">
                <a:solidFill>
                  <a:srgbClr val="536B76"/>
                </a:solidFill>
                <a:latin typeface="Segoe UI" pitchFamily="34" charset="0"/>
                <a:ea typeface="Segoe UI" pitchFamily="34" charset="-122"/>
                <a:cs typeface="Segoe UI" pitchFamily="34" charset="-120"/>
              </a:rPr>
              <a:t>Supplier references are provisional.</a:t>
            </a:r>
            <a:endParaRPr lang="en-US" sz="1700" dirty="0"/>
          </a:p>
          <a:p>
            <a:pPr indent="0" marL="0">
              <a:buNone/>
            </a:pPr>
            <a:r>
              <a:rPr lang="en-US" sz="1700" dirty="0">
                <a:solidFill>
                  <a:srgbClr val="536B76"/>
                </a:solidFill>
                <a:latin typeface="Segoe UI" pitchFamily="34" charset="0"/>
                <a:ea typeface="Segoe UI" pitchFamily="34" charset="-122"/>
                <a:cs typeface="Segoe UI" pitchFamily="34" charset="-120"/>
              </a:rPr>
              <a:t>Catalogue match does not approve technical equivalence.</a:t>
            </a:r>
            <a:endParaRPr lang="en-US" sz="1700" dirty="0"/>
          </a:p>
        </p:txBody>
      </p:sp>
      <p:sp>
        <p:nvSpPr>
          <p:cNvPr id="14" name="Shape 12"/>
          <p:cNvSpPr/>
          <p:nvPr/>
        </p:nvSpPr>
        <p:spPr>
          <a:xfrm>
            <a:off x="932688" y="3822192"/>
            <a:ext cx="10561320" cy="0"/>
          </a:xfrm>
          <a:prstGeom prst="line">
            <a:avLst/>
          </a:prstGeom>
          <a:noFill/>
          <a:ln w="8890">
            <a:solidFill>
              <a:srgbClr val="D6E2DE"/>
            </a:solidFill>
            <a:prstDash val="solid"/>
          </a:ln>
        </p:spPr>
      </p:sp>
      <p:sp>
        <p:nvSpPr>
          <p:cNvPr id="15" name="Shape 13"/>
          <p:cNvSpPr/>
          <p:nvPr/>
        </p:nvSpPr>
        <p:spPr>
          <a:xfrm>
            <a:off x="704088" y="3950208"/>
            <a:ext cx="50292" cy="749808"/>
          </a:xfrm>
          <a:prstGeom prst="rect">
            <a:avLst/>
          </a:prstGeom>
          <a:solidFill>
            <a:srgbClr val="267654"/>
          </a:solidFill>
          <a:ln w="12700">
            <a:solidFill>
              <a:srgbClr val="267654">
                <a:alpha val="0"/>
              </a:srgbClr>
            </a:solidFill>
            <a:prstDash val="solid"/>
          </a:ln>
        </p:spPr>
      </p:sp>
      <p:sp>
        <p:nvSpPr>
          <p:cNvPr id="16" name="Text 14"/>
          <p:cNvSpPr/>
          <p:nvPr/>
        </p:nvSpPr>
        <p:spPr>
          <a:xfrm>
            <a:off x="932688" y="3950208"/>
            <a:ext cx="2907792" cy="384048"/>
          </a:xfrm>
          <a:prstGeom prst="rect">
            <a:avLst/>
          </a:prstGeom>
          <a:noFill/>
          <a:ln/>
        </p:spPr>
        <p:txBody>
          <a:bodyPr wrap="square" lIns="0" tIns="0" rIns="0" bIns="0" rtlCol="0" anchor="ctr"/>
          <a:lstStyle/>
          <a:p>
            <a:pPr indent="0" marL="0">
              <a:buNone/>
            </a:pPr>
            <a:r>
              <a:rPr lang="en-US" sz="2200" dirty="0">
                <a:solidFill>
                  <a:srgbClr val="002B3D"/>
                </a:solidFill>
                <a:latin typeface="Segoe UI Semibold" pitchFamily="34" charset="0"/>
                <a:ea typeface="Segoe UI Semibold" pitchFamily="34" charset="-122"/>
                <a:cs typeface="Segoe UI Semibold" pitchFamily="34" charset="-120"/>
              </a:rPr>
              <a:t>Bid probabilities</a:t>
            </a:r>
            <a:endParaRPr lang="en-US" sz="2200" dirty="0"/>
          </a:p>
        </p:txBody>
      </p:sp>
      <p:sp>
        <p:nvSpPr>
          <p:cNvPr id="17" name="Text 15"/>
          <p:cNvSpPr/>
          <p:nvPr/>
        </p:nvSpPr>
        <p:spPr>
          <a:xfrm>
            <a:off x="3977640" y="3950208"/>
            <a:ext cx="7424928" cy="749808"/>
          </a:xfrm>
          <a:prstGeom prst="rect">
            <a:avLst/>
          </a:prstGeom>
          <a:noFill/>
          <a:ln/>
        </p:spPr>
        <p:txBody>
          <a:bodyPr wrap="square" lIns="0" tIns="0" rIns="0" bIns="0" rtlCol="0" anchor="ctr"/>
          <a:lstStyle/>
          <a:p>
            <a:pPr indent="0" marL="0">
              <a:buNone/>
            </a:pPr>
            <a:r>
              <a:rPr lang="en-US" sz="1700" dirty="0">
                <a:solidFill>
                  <a:srgbClr val="536B76"/>
                </a:solidFill>
                <a:latin typeface="Segoe UI" pitchFamily="34" charset="0"/>
                <a:ea typeface="Segoe UI" pitchFamily="34" charset="-122"/>
                <a:cs typeface="Segoe UI" pitchFamily="34" charset="-120"/>
              </a:rPr>
              <a:t>Scenario assumptions are illustrative.</a:t>
            </a:r>
            <a:endParaRPr lang="en-US" sz="1700" dirty="0"/>
          </a:p>
          <a:p>
            <a:pPr indent="0" marL="0">
              <a:buNone/>
            </a:pPr>
            <a:r>
              <a:rPr lang="en-US" sz="1700" dirty="0">
                <a:solidFill>
                  <a:srgbClr val="536B76"/>
                </a:solidFill>
                <a:latin typeface="Segoe UI" pitchFamily="34" charset="0"/>
                <a:ea typeface="Segoe UI" pitchFamily="34" charset="-122"/>
                <a:cs typeface="Segoe UI" pitchFamily="34" charset="-120"/>
              </a:rPr>
              <a:t>Historical data is needed for calibration.</a:t>
            </a:r>
            <a:endParaRPr lang="en-US" sz="1700" dirty="0"/>
          </a:p>
        </p:txBody>
      </p:sp>
      <p:sp>
        <p:nvSpPr>
          <p:cNvPr id="18" name="Shape 16"/>
          <p:cNvSpPr/>
          <p:nvPr/>
        </p:nvSpPr>
        <p:spPr>
          <a:xfrm>
            <a:off x="932688" y="4855464"/>
            <a:ext cx="10561320" cy="0"/>
          </a:xfrm>
          <a:prstGeom prst="line">
            <a:avLst/>
          </a:prstGeom>
          <a:noFill/>
          <a:ln w="8890">
            <a:solidFill>
              <a:srgbClr val="D6E2DE"/>
            </a:solidFill>
            <a:prstDash val="solid"/>
          </a:ln>
        </p:spPr>
      </p:sp>
      <p:sp>
        <p:nvSpPr>
          <p:cNvPr id="19" name="Shape 17"/>
          <p:cNvSpPr/>
          <p:nvPr/>
        </p:nvSpPr>
        <p:spPr>
          <a:xfrm>
            <a:off x="704088" y="4983480"/>
            <a:ext cx="50292" cy="749808"/>
          </a:xfrm>
          <a:prstGeom prst="rect">
            <a:avLst/>
          </a:prstGeom>
          <a:solidFill>
            <a:srgbClr val="267654"/>
          </a:solidFill>
          <a:ln w="12700">
            <a:solidFill>
              <a:srgbClr val="267654">
                <a:alpha val="0"/>
              </a:srgbClr>
            </a:solidFill>
            <a:prstDash val="solid"/>
          </a:ln>
        </p:spPr>
      </p:sp>
      <p:sp>
        <p:nvSpPr>
          <p:cNvPr id="20" name="Text 18"/>
          <p:cNvSpPr/>
          <p:nvPr/>
        </p:nvSpPr>
        <p:spPr>
          <a:xfrm>
            <a:off x="932688" y="4983480"/>
            <a:ext cx="2907792" cy="384048"/>
          </a:xfrm>
          <a:prstGeom prst="rect">
            <a:avLst/>
          </a:prstGeom>
          <a:noFill/>
          <a:ln/>
        </p:spPr>
        <p:txBody>
          <a:bodyPr wrap="square" lIns="0" tIns="0" rIns="0" bIns="0" rtlCol="0" anchor="ctr"/>
          <a:lstStyle/>
          <a:p>
            <a:pPr indent="0" marL="0">
              <a:buNone/>
            </a:pPr>
            <a:r>
              <a:rPr lang="en-US" sz="2200" dirty="0">
                <a:solidFill>
                  <a:srgbClr val="002B3D"/>
                </a:solidFill>
                <a:latin typeface="Segoe UI Semibold" pitchFamily="34" charset="0"/>
                <a:ea typeface="Segoe UI Semibold" pitchFamily="34" charset="-122"/>
                <a:cs typeface="Segoe UI Semibold" pitchFamily="34" charset="-120"/>
              </a:rPr>
              <a:t>Team deployment</a:t>
            </a:r>
            <a:endParaRPr lang="en-US" sz="2200" dirty="0"/>
          </a:p>
        </p:txBody>
      </p:sp>
      <p:sp>
        <p:nvSpPr>
          <p:cNvPr id="21" name="Text 19"/>
          <p:cNvSpPr/>
          <p:nvPr/>
        </p:nvSpPr>
        <p:spPr>
          <a:xfrm>
            <a:off x="3977640" y="4983480"/>
            <a:ext cx="7424928" cy="749808"/>
          </a:xfrm>
          <a:prstGeom prst="rect">
            <a:avLst/>
          </a:prstGeom>
          <a:noFill/>
          <a:ln/>
        </p:spPr>
        <p:txBody>
          <a:bodyPr wrap="square" lIns="0" tIns="0" rIns="0" bIns="0" rtlCol="0" anchor="ctr"/>
          <a:lstStyle/>
          <a:p>
            <a:pPr indent="0" marL="0">
              <a:buNone/>
            </a:pPr>
            <a:r>
              <a:rPr lang="en-US" sz="1700" dirty="0">
                <a:solidFill>
                  <a:srgbClr val="536B76"/>
                </a:solidFill>
                <a:latin typeface="Segoe UI" pitchFamily="34" charset="0"/>
                <a:ea typeface="Segoe UI" pitchFamily="34" charset="-122"/>
                <a:cs typeface="Segoe UI" pitchFamily="34" charset="-120"/>
              </a:rPr>
              <a:t>Authentication and multiuser collaboration remain future work.</a:t>
            </a:r>
            <a:endParaRPr lang="en-US" sz="1700" dirty="0"/>
          </a:p>
          <a:p>
            <a:pPr indent="0" marL="0">
              <a:buNone/>
            </a:pPr>
            <a:r>
              <a:rPr lang="en-US" sz="1700" dirty="0">
                <a:solidFill>
                  <a:srgbClr val="536B76"/>
                </a:solidFill>
                <a:latin typeface="Segoe UI" pitchFamily="34" charset="0"/>
                <a:ea typeface="Segoe UI" pitchFamily="34" charset="-122"/>
                <a:cs typeface="Segoe UI" pitchFamily="34" charset="-120"/>
              </a:rPr>
              <a:t>Formal tender submission stays with the bid team.</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393192"/>
            <a:ext cx="10058400" cy="237744"/>
          </a:xfrm>
          <a:prstGeom prst="rect">
            <a:avLst/>
          </a:prstGeom>
          <a:noFill/>
          <a:ln/>
        </p:spPr>
        <p:txBody>
          <a:bodyPr wrap="square" lIns="0" tIns="0" rIns="0" bIns="0" rtlCol="0" anchor="ctr"/>
          <a:lstStyle/>
          <a:p>
            <a:pPr indent="0" marL="0">
              <a:buNone/>
            </a:pPr>
            <a:r>
              <a:rPr lang="en-US" sz="1100" spc="210" kern="0" dirty="0">
                <a:solidFill>
                  <a:srgbClr val="267654"/>
                </a:solidFill>
                <a:latin typeface="Segoe UI Semibold" pitchFamily="34" charset="0"/>
                <a:ea typeface="Segoe UI Semibold" pitchFamily="34" charset="-122"/>
                <a:cs typeface="Segoe UI Semibold" pitchFamily="34" charset="-120"/>
              </a:rPr>
              <a:t>BACKUP / EVIDENCE REGISTER</a:t>
            </a:r>
            <a:endParaRPr lang="en-US" sz="1100" dirty="0"/>
          </a:p>
        </p:txBody>
      </p:sp>
      <p:sp>
        <p:nvSpPr>
          <p:cNvPr id="3" name="Text 1"/>
          <p:cNvSpPr/>
          <p:nvPr/>
        </p:nvSpPr>
        <p:spPr>
          <a:xfrm>
            <a:off x="594360" y="868680"/>
            <a:ext cx="11018520" cy="713232"/>
          </a:xfrm>
          <a:prstGeom prst="rect">
            <a:avLst/>
          </a:prstGeom>
          <a:noFill/>
          <a:ln/>
        </p:spPr>
        <p:txBody>
          <a:bodyPr wrap="square" lIns="0" tIns="0" rIns="0" bIns="0" rtlCol="0" anchor="ctr"/>
          <a:lstStyle/>
          <a:p>
            <a:pPr indent="0" marL="0">
              <a:buNone/>
            </a:pPr>
            <a:r>
              <a:rPr lang="en-US" sz="3500" dirty="0">
                <a:solidFill>
                  <a:srgbClr val="002B3D"/>
                </a:solidFill>
                <a:latin typeface="Segoe UI Semibold" pitchFamily="34" charset="0"/>
                <a:ea typeface="Segoe UI Semibold" pitchFamily="34" charset="-122"/>
                <a:cs typeface="Segoe UI Semibold" pitchFamily="34" charset="-120"/>
              </a:rPr>
              <a:t>The numbers and their sources.</a:t>
            </a:r>
            <a:endParaRPr lang="en-US" sz="3500" dirty="0"/>
          </a:p>
        </p:txBody>
      </p:sp>
      <p:sp>
        <p:nvSpPr>
          <p:cNvPr id="4" name="Shape 2"/>
          <p:cNvSpPr/>
          <p:nvPr/>
        </p:nvSpPr>
        <p:spPr>
          <a:xfrm>
            <a:off x="548640" y="6455664"/>
            <a:ext cx="11091672" cy="0"/>
          </a:xfrm>
          <a:prstGeom prst="line">
            <a:avLst/>
          </a:prstGeom>
          <a:noFill/>
          <a:ln w="8255">
            <a:solidFill>
              <a:srgbClr val="D6E2DE"/>
            </a:solidFill>
            <a:prstDash val="solid"/>
          </a:ln>
        </p:spPr>
      </p:sp>
      <p:sp>
        <p:nvSpPr>
          <p:cNvPr id="5" name="Text 3"/>
          <p:cNvSpPr/>
          <p:nvPr/>
        </p:nvSpPr>
        <p:spPr>
          <a:xfrm>
            <a:off x="548640" y="6547104"/>
            <a:ext cx="5486400" cy="164592"/>
          </a:xfrm>
          <a:prstGeom prst="rect">
            <a:avLst/>
          </a:prstGeom>
          <a:noFill/>
          <a:ln/>
        </p:spPr>
        <p:txBody>
          <a:bodyPr wrap="square" lIns="0" tIns="0" rIns="0" bIns="0" rtlCol="0" anchor="ctr"/>
          <a:lstStyle/>
          <a:p>
            <a:pPr indent="0" marL="0">
              <a:buNone/>
            </a:pPr>
            <a:r>
              <a:rPr lang="en-US" sz="900" dirty="0">
                <a:solidFill>
                  <a:srgbClr val="536B76"/>
                </a:solidFill>
                <a:latin typeface="Segoe UI" pitchFamily="34" charset="0"/>
                <a:ea typeface="Segoe UI" pitchFamily="34" charset="-122"/>
                <a:cs typeface="Segoe UI" pitchFamily="34" charset="-120"/>
              </a:rPr>
              <a:t>BidGenius AI  /  Equans challenge</a:t>
            </a:r>
            <a:endParaRPr lang="en-US" sz="900" dirty="0"/>
          </a:p>
        </p:txBody>
      </p:sp>
      <p:sp>
        <p:nvSpPr>
          <p:cNvPr id="6" name="Text 4"/>
          <p:cNvSpPr/>
          <p:nvPr/>
        </p:nvSpPr>
        <p:spPr>
          <a:xfrm>
            <a:off x="10241280" y="6528816"/>
            <a:ext cx="1389888" cy="182880"/>
          </a:xfrm>
          <a:prstGeom prst="rect">
            <a:avLst/>
          </a:prstGeom>
          <a:noFill/>
          <a:ln/>
        </p:spPr>
        <p:txBody>
          <a:bodyPr wrap="square" lIns="0" tIns="0" rIns="0" bIns="0" rtlCol="0" anchor="ctr"/>
          <a:lstStyle/>
          <a:p>
            <a:pPr algn="r" indent="0" marL="0">
              <a:buNone/>
            </a:pPr>
            <a:r>
              <a:rPr lang="en-US" sz="900" dirty="0">
                <a:solidFill>
                  <a:srgbClr val="536B76"/>
                </a:solidFill>
                <a:latin typeface="Segoe UI" pitchFamily="34" charset="0"/>
                <a:ea typeface="Segoe UI" pitchFamily="34" charset="-122"/>
                <a:cs typeface="Segoe UI" pitchFamily="34" charset="-120"/>
              </a:rPr>
              <a:t>Q&amp;A  /  03</a:t>
            </a:r>
            <a:endParaRPr lang="en-US" sz="900" dirty="0"/>
          </a:p>
        </p:txBody>
      </p:sp>
      <p:sp>
        <p:nvSpPr>
          <p:cNvPr id="7" name="Shape 5"/>
          <p:cNvSpPr/>
          <p:nvPr/>
        </p:nvSpPr>
        <p:spPr>
          <a:xfrm>
            <a:off x="713232" y="1883664"/>
            <a:ext cx="10808208" cy="438912"/>
          </a:xfrm>
          <a:prstGeom prst="rect">
            <a:avLst/>
          </a:prstGeom>
          <a:solidFill>
            <a:srgbClr val="002B3D"/>
          </a:solidFill>
          <a:ln w="12700">
            <a:solidFill>
              <a:srgbClr val="002B3D">
                <a:alpha val="0"/>
              </a:srgbClr>
            </a:solidFill>
            <a:prstDash val="solid"/>
          </a:ln>
        </p:spPr>
      </p:sp>
      <p:sp>
        <p:nvSpPr>
          <p:cNvPr id="8" name="Text 6"/>
          <p:cNvSpPr/>
          <p:nvPr/>
        </p:nvSpPr>
        <p:spPr>
          <a:xfrm>
            <a:off x="896112" y="1883664"/>
            <a:ext cx="2651760" cy="438912"/>
          </a:xfrm>
          <a:prstGeom prst="rect">
            <a:avLst/>
          </a:prstGeom>
          <a:noFill/>
          <a:ln/>
        </p:spPr>
        <p:txBody>
          <a:bodyPr wrap="square" lIns="0" tIns="0" rIns="0" bIns="0" rtlCol="0" anchor="ctr"/>
          <a:lstStyle/>
          <a:p>
            <a:pPr indent="0" marL="0">
              <a:buNone/>
            </a:pPr>
            <a:r>
              <a:rPr lang="en-US" sz="1100" dirty="0">
                <a:solidFill>
                  <a:srgbClr val="FFFFFF"/>
                </a:solidFill>
                <a:latin typeface="Segoe UI Semibold" pitchFamily="34" charset="0"/>
                <a:ea typeface="Segoe UI Semibold" pitchFamily="34" charset="-122"/>
                <a:cs typeface="Segoe UI Semibold" pitchFamily="34" charset="-120"/>
              </a:rPr>
              <a:t>MEASUREMENT</a:t>
            </a:r>
            <a:endParaRPr lang="en-US" sz="1100" dirty="0"/>
          </a:p>
        </p:txBody>
      </p:sp>
      <p:sp>
        <p:nvSpPr>
          <p:cNvPr id="9" name="Text 7"/>
          <p:cNvSpPr/>
          <p:nvPr/>
        </p:nvSpPr>
        <p:spPr>
          <a:xfrm>
            <a:off x="3703320" y="1883664"/>
            <a:ext cx="3566160" cy="438912"/>
          </a:xfrm>
          <a:prstGeom prst="rect">
            <a:avLst/>
          </a:prstGeom>
          <a:noFill/>
          <a:ln/>
        </p:spPr>
        <p:txBody>
          <a:bodyPr wrap="square" lIns="0" tIns="0" rIns="0" bIns="0" rtlCol="0" anchor="ctr"/>
          <a:lstStyle/>
          <a:p>
            <a:pPr indent="0" marL="0">
              <a:buNone/>
            </a:pPr>
            <a:r>
              <a:rPr lang="en-US" sz="1100" dirty="0">
                <a:solidFill>
                  <a:srgbClr val="FFFFFF"/>
                </a:solidFill>
                <a:latin typeface="Segoe UI Semibold" pitchFamily="34" charset="0"/>
                <a:ea typeface="Segoe UI Semibold" pitchFamily="34" charset="-122"/>
                <a:cs typeface="Segoe UI Semibold" pitchFamily="34" charset="-120"/>
              </a:rPr>
              <a:t>RESULT</a:t>
            </a:r>
            <a:endParaRPr lang="en-US" sz="1100" dirty="0"/>
          </a:p>
        </p:txBody>
      </p:sp>
      <p:sp>
        <p:nvSpPr>
          <p:cNvPr id="10" name="Text 8"/>
          <p:cNvSpPr/>
          <p:nvPr/>
        </p:nvSpPr>
        <p:spPr>
          <a:xfrm>
            <a:off x="7415784" y="1883664"/>
            <a:ext cx="3931920" cy="438912"/>
          </a:xfrm>
          <a:prstGeom prst="rect">
            <a:avLst/>
          </a:prstGeom>
          <a:noFill/>
          <a:ln/>
        </p:spPr>
        <p:txBody>
          <a:bodyPr wrap="square" lIns="0" tIns="0" rIns="0" bIns="0" rtlCol="0" anchor="ctr"/>
          <a:lstStyle/>
          <a:p>
            <a:pPr indent="0" marL="0">
              <a:buNone/>
            </a:pPr>
            <a:r>
              <a:rPr lang="en-US" sz="1100" dirty="0">
                <a:solidFill>
                  <a:srgbClr val="FFFFFF"/>
                </a:solidFill>
                <a:latin typeface="Segoe UI Semibold" pitchFamily="34" charset="0"/>
                <a:ea typeface="Segoe UI Semibold" pitchFamily="34" charset="-122"/>
                <a:cs typeface="Segoe UI Semibold" pitchFamily="34" charset="-120"/>
              </a:rPr>
              <a:t>LOCAL SOURCE</a:t>
            </a:r>
            <a:endParaRPr lang="en-US" sz="1100" dirty="0"/>
          </a:p>
        </p:txBody>
      </p:sp>
      <p:sp>
        <p:nvSpPr>
          <p:cNvPr id="11" name="Shape 9"/>
          <p:cNvSpPr/>
          <p:nvPr/>
        </p:nvSpPr>
        <p:spPr>
          <a:xfrm>
            <a:off x="713232" y="2350008"/>
            <a:ext cx="10808208" cy="448056"/>
          </a:xfrm>
          <a:prstGeom prst="rect">
            <a:avLst/>
          </a:prstGeom>
          <a:solidFill>
            <a:srgbClr val="FFFFFF"/>
          </a:solidFill>
          <a:ln w="12700">
            <a:solidFill>
              <a:srgbClr val="FFFFFF">
                <a:alpha val="0"/>
              </a:srgbClr>
            </a:solidFill>
            <a:prstDash val="solid"/>
          </a:ln>
        </p:spPr>
      </p:sp>
      <p:sp>
        <p:nvSpPr>
          <p:cNvPr id="12" name="Text 10"/>
          <p:cNvSpPr/>
          <p:nvPr/>
        </p:nvSpPr>
        <p:spPr>
          <a:xfrm>
            <a:off x="896112" y="2350008"/>
            <a:ext cx="2697480" cy="448056"/>
          </a:xfrm>
          <a:prstGeom prst="rect">
            <a:avLst/>
          </a:prstGeom>
          <a:noFill/>
          <a:ln/>
        </p:spPr>
        <p:txBody>
          <a:bodyPr wrap="square" lIns="0" tIns="0" rIns="0" bIns="0" rtlCol="0" anchor="ctr"/>
          <a:lstStyle/>
          <a:p>
            <a:pPr indent="0" marL="0">
              <a:buNone/>
            </a:pPr>
            <a:r>
              <a:rPr lang="en-US" sz="1250" dirty="0">
                <a:solidFill>
                  <a:srgbClr val="002B3D"/>
                </a:solidFill>
                <a:latin typeface="Segoe UI Semibold" pitchFamily="34" charset="0"/>
                <a:ea typeface="Segoe UI Semibold" pitchFamily="34" charset="-122"/>
                <a:cs typeface="Segoe UI Semibold" pitchFamily="34" charset="-120"/>
              </a:rPr>
              <a:t>Prepared local draft</a:t>
            </a:r>
            <a:endParaRPr lang="en-US" sz="1250" dirty="0"/>
          </a:p>
        </p:txBody>
      </p:sp>
      <p:sp>
        <p:nvSpPr>
          <p:cNvPr id="13" name="Text 11"/>
          <p:cNvSpPr/>
          <p:nvPr/>
        </p:nvSpPr>
        <p:spPr>
          <a:xfrm>
            <a:off x="3703320" y="2350008"/>
            <a:ext cx="3593592" cy="448056"/>
          </a:xfrm>
          <a:prstGeom prst="rect">
            <a:avLst/>
          </a:prstGeom>
          <a:noFill/>
          <a:ln/>
        </p:spPr>
        <p:txBody>
          <a:bodyPr wrap="square" lIns="0" tIns="0" rIns="0" bIns="0" rtlCol="0" anchor="ctr"/>
          <a:lstStyle/>
          <a:p>
            <a:pPr indent="0" marL="0">
              <a:buNone/>
            </a:pPr>
            <a:r>
              <a:rPr lang="en-US" sz="1220" dirty="0">
                <a:solidFill>
                  <a:srgbClr val="002B3D"/>
                </a:solidFill>
                <a:latin typeface="Segoe UI" pitchFamily="34" charset="0"/>
                <a:ea typeface="Segoe UI" pitchFamily="34" charset="-122"/>
                <a:cs typeface="Segoe UI" pitchFamily="34" charset="-120"/>
              </a:rPr>
              <a:t>55.035 s · 202 pages attempted</a:t>
            </a:r>
            <a:endParaRPr lang="en-US" sz="1220" dirty="0"/>
          </a:p>
        </p:txBody>
      </p:sp>
      <p:sp>
        <p:nvSpPr>
          <p:cNvPr id="14" name="Text 12"/>
          <p:cNvSpPr/>
          <p:nvPr/>
        </p:nvSpPr>
        <p:spPr>
          <a:xfrm>
            <a:off x="7415784" y="2350008"/>
            <a:ext cx="3904488" cy="448056"/>
          </a:xfrm>
          <a:prstGeom prst="rect">
            <a:avLst/>
          </a:prstGeom>
          <a:noFill/>
          <a:ln/>
        </p:spPr>
        <p:txBody>
          <a:bodyPr wrap="square" lIns="0" tIns="0" rIns="0" bIns="0" rtlCol="0" anchor="ctr"/>
          <a:lstStyle/>
          <a:p>
            <a:pPr indent="0" marL="0">
              <a:buNone/>
            </a:pPr>
            <a:r>
              <a:rPr lang="en-US" sz="1020" dirty="0">
                <a:solidFill>
                  <a:srgbClr val="536B76"/>
                </a:solidFill>
                <a:latin typeface="Segoe UI" pitchFamily="34" charset="0"/>
                <a:ea typeface="Segoe UI" pitchFamily="34" charset="-122"/>
                <a:cs typeface="Segoe UI" pitchFamily="34" charset="-120"/>
              </a:rPr>
              <a:t>artifacts/prepared-demo.json</a:t>
            </a:r>
            <a:endParaRPr lang="en-US" sz="1020" dirty="0"/>
          </a:p>
        </p:txBody>
      </p:sp>
      <p:sp>
        <p:nvSpPr>
          <p:cNvPr id="15" name="Shape 13"/>
          <p:cNvSpPr/>
          <p:nvPr/>
        </p:nvSpPr>
        <p:spPr>
          <a:xfrm>
            <a:off x="713232" y="2825496"/>
            <a:ext cx="10808208" cy="448056"/>
          </a:xfrm>
          <a:prstGeom prst="rect">
            <a:avLst/>
          </a:prstGeom>
          <a:solidFill>
            <a:srgbClr val="F4F7F5"/>
          </a:solidFill>
          <a:ln w="12700">
            <a:solidFill>
              <a:srgbClr val="F4F7F5">
                <a:alpha val="0"/>
              </a:srgbClr>
            </a:solidFill>
            <a:prstDash val="solid"/>
          </a:ln>
        </p:spPr>
      </p:sp>
      <p:sp>
        <p:nvSpPr>
          <p:cNvPr id="16" name="Text 14"/>
          <p:cNvSpPr/>
          <p:nvPr/>
        </p:nvSpPr>
        <p:spPr>
          <a:xfrm>
            <a:off x="896112" y="2825496"/>
            <a:ext cx="2697480" cy="448056"/>
          </a:xfrm>
          <a:prstGeom prst="rect">
            <a:avLst/>
          </a:prstGeom>
          <a:noFill/>
          <a:ln/>
        </p:spPr>
        <p:txBody>
          <a:bodyPr wrap="square" lIns="0" tIns="0" rIns="0" bIns="0" rtlCol="0" anchor="ctr"/>
          <a:lstStyle/>
          <a:p>
            <a:pPr indent="0" marL="0">
              <a:buNone/>
            </a:pPr>
            <a:r>
              <a:rPr lang="en-US" sz="1250" dirty="0">
                <a:solidFill>
                  <a:srgbClr val="002B3D"/>
                </a:solidFill>
                <a:latin typeface="Segoe UI Semibold" pitchFamily="34" charset="0"/>
                <a:ea typeface="Segoe UI Semibold" pitchFamily="34" charset="-122"/>
                <a:cs typeface="Segoe UI Semibold" pitchFamily="34" charset="-120"/>
              </a:rPr>
              <a:t>Prepared extraction</a:t>
            </a:r>
            <a:endParaRPr lang="en-US" sz="1250" dirty="0"/>
          </a:p>
        </p:txBody>
      </p:sp>
      <p:sp>
        <p:nvSpPr>
          <p:cNvPr id="17" name="Text 15"/>
          <p:cNvSpPr/>
          <p:nvPr/>
        </p:nvSpPr>
        <p:spPr>
          <a:xfrm>
            <a:off x="3703320" y="2825496"/>
            <a:ext cx="3593592" cy="448056"/>
          </a:xfrm>
          <a:prstGeom prst="rect">
            <a:avLst/>
          </a:prstGeom>
          <a:noFill/>
          <a:ln/>
        </p:spPr>
        <p:txBody>
          <a:bodyPr wrap="square" lIns="0" tIns="0" rIns="0" bIns="0" rtlCol="0" anchor="ctr"/>
          <a:lstStyle/>
          <a:p>
            <a:pPr indent="0" marL="0">
              <a:buNone/>
            </a:pPr>
            <a:r>
              <a:rPr lang="en-US" sz="1220" dirty="0">
                <a:solidFill>
                  <a:srgbClr val="002B3D"/>
                </a:solidFill>
                <a:latin typeface="Segoe UI" pitchFamily="34" charset="0"/>
                <a:ea typeface="Segoe UI" pitchFamily="34" charset="-122"/>
                <a:cs typeface="Segoe UI" pitchFamily="34" charset="-120"/>
              </a:rPr>
              <a:t>679 records · 542 unpriced</a:t>
            </a:r>
            <a:endParaRPr lang="en-US" sz="1220" dirty="0"/>
          </a:p>
        </p:txBody>
      </p:sp>
      <p:sp>
        <p:nvSpPr>
          <p:cNvPr id="18" name="Text 16"/>
          <p:cNvSpPr/>
          <p:nvPr/>
        </p:nvSpPr>
        <p:spPr>
          <a:xfrm>
            <a:off x="7415784" y="2825496"/>
            <a:ext cx="3904488" cy="448056"/>
          </a:xfrm>
          <a:prstGeom prst="rect">
            <a:avLst/>
          </a:prstGeom>
          <a:noFill/>
          <a:ln/>
        </p:spPr>
        <p:txBody>
          <a:bodyPr wrap="square" lIns="0" tIns="0" rIns="0" bIns="0" rtlCol="0" anchor="ctr"/>
          <a:lstStyle/>
          <a:p>
            <a:pPr indent="0" marL="0">
              <a:buNone/>
            </a:pPr>
            <a:r>
              <a:rPr lang="en-US" sz="1020" dirty="0">
                <a:solidFill>
                  <a:srgbClr val="536B76"/>
                </a:solidFill>
                <a:latin typeface="Segoe UI" pitchFamily="34" charset="0"/>
                <a:ea typeface="Segoe UI" pitchFamily="34" charset="-122"/>
                <a:cs typeface="Segoe UI" pitchFamily="34" charset="-120"/>
              </a:rPr>
              <a:t>artifacts/prepared-demo.json</a:t>
            </a:r>
            <a:endParaRPr lang="en-US" sz="1020" dirty="0"/>
          </a:p>
        </p:txBody>
      </p:sp>
      <p:sp>
        <p:nvSpPr>
          <p:cNvPr id="19" name="Shape 17"/>
          <p:cNvSpPr/>
          <p:nvPr/>
        </p:nvSpPr>
        <p:spPr>
          <a:xfrm>
            <a:off x="713232" y="3300984"/>
            <a:ext cx="10808208" cy="448056"/>
          </a:xfrm>
          <a:prstGeom prst="rect">
            <a:avLst/>
          </a:prstGeom>
          <a:solidFill>
            <a:srgbClr val="FFFFFF"/>
          </a:solidFill>
          <a:ln w="12700">
            <a:solidFill>
              <a:srgbClr val="FFFFFF">
                <a:alpha val="0"/>
              </a:srgbClr>
            </a:solidFill>
            <a:prstDash val="solid"/>
          </a:ln>
        </p:spPr>
      </p:sp>
      <p:sp>
        <p:nvSpPr>
          <p:cNvPr id="20" name="Text 18"/>
          <p:cNvSpPr/>
          <p:nvPr/>
        </p:nvSpPr>
        <p:spPr>
          <a:xfrm>
            <a:off x="896112" y="3300984"/>
            <a:ext cx="2697480" cy="448056"/>
          </a:xfrm>
          <a:prstGeom prst="rect">
            <a:avLst/>
          </a:prstGeom>
          <a:noFill/>
          <a:ln/>
        </p:spPr>
        <p:txBody>
          <a:bodyPr wrap="square" lIns="0" tIns="0" rIns="0" bIns="0" rtlCol="0" anchor="ctr"/>
          <a:lstStyle/>
          <a:p>
            <a:pPr indent="0" marL="0">
              <a:buNone/>
            </a:pPr>
            <a:r>
              <a:rPr lang="en-US" sz="1250" dirty="0">
                <a:solidFill>
                  <a:srgbClr val="002B3D"/>
                </a:solidFill>
                <a:latin typeface="Segoe UI Semibold" pitchFamily="34" charset="0"/>
                <a:ea typeface="Segoe UI Semibold" pitchFamily="34" charset="-122"/>
                <a:cs typeface="Segoe UI Semibold" pitchFamily="34" charset="-120"/>
              </a:rPr>
              <a:t>Included-scope draft price</a:t>
            </a:r>
            <a:endParaRPr lang="en-US" sz="1250" dirty="0"/>
          </a:p>
        </p:txBody>
      </p:sp>
      <p:sp>
        <p:nvSpPr>
          <p:cNvPr id="21" name="Text 19"/>
          <p:cNvSpPr/>
          <p:nvPr/>
        </p:nvSpPr>
        <p:spPr>
          <a:xfrm>
            <a:off x="3703320" y="3300984"/>
            <a:ext cx="3593592" cy="448056"/>
          </a:xfrm>
          <a:prstGeom prst="rect">
            <a:avLst/>
          </a:prstGeom>
          <a:noFill/>
          <a:ln/>
        </p:spPr>
        <p:txBody>
          <a:bodyPr wrap="square" lIns="0" tIns="0" rIns="0" bIns="0" rtlCol="0" anchor="ctr"/>
          <a:lstStyle/>
          <a:p>
            <a:pPr indent="0" marL="0">
              <a:buNone/>
            </a:pPr>
            <a:r>
              <a:rPr lang="en-US" sz="1220" dirty="0">
                <a:solidFill>
                  <a:srgbClr val="002B3D"/>
                </a:solidFill>
                <a:latin typeface="Segoe UI" pitchFamily="34" charset="0"/>
                <a:ea typeface="Segoe UI" pitchFamily="34" charset="-122"/>
                <a:cs typeface="Segoe UI" pitchFamily="34" charset="-120"/>
              </a:rPr>
              <a:t>CHF 1,661,000 · revision 1</a:t>
            </a:r>
            <a:endParaRPr lang="en-US" sz="1220" dirty="0"/>
          </a:p>
        </p:txBody>
      </p:sp>
      <p:sp>
        <p:nvSpPr>
          <p:cNvPr id="22" name="Text 20"/>
          <p:cNvSpPr/>
          <p:nvPr/>
        </p:nvSpPr>
        <p:spPr>
          <a:xfrm>
            <a:off x="7415784" y="3300984"/>
            <a:ext cx="3904488" cy="448056"/>
          </a:xfrm>
          <a:prstGeom prst="rect">
            <a:avLst/>
          </a:prstGeom>
          <a:noFill/>
          <a:ln/>
        </p:spPr>
        <p:txBody>
          <a:bodyPr wrap="square" lIns="0" tIns="0" rIns="0" bIns="0" rtlCol="0" anchor="ctr"/>
          <a:lstStyle/>
          <a:p>
            <a:pPr indent="0" marL="0">
              <a:buNone/>
            </a:pPr>
            <a:r>
              <a:rPr lang="en-US" sz="1020" dirty="0">
                <a:solidFill>
                  <a:srgbClr val="536B76"/>
                </a:solidFill>
                <a:latin typeface="Segoe UI" pitchFamily="34" charset="0"/>
                <a:ea typeface="Segoe UI" pitchFamily="34" charset="-122"/>
                <a:cs typeface="Segoe UI" pitchFamily="34" charset="-120"/>
              </a:rPr>
              <a:t>artifacts/prepared-demo.json</a:t>
            </a:r>
            <a:endParaRPr lang="en-US" sz="1020" dirty="0"/>
          </a:p>
        </p:txBody>
      </p:sp>
      <p:sp>
        <p:nvSpPr>
          <p:cNvPr id="23" name="Shape 21"/>
          <p:cNvSpPr/>
          <p:nvPr/>
        </p:nvSpPr>
        <p:spPr>
          <a:xfrm>
            <a:off x="713232" y="3776472"/>
            <a:ext cx="10808208" cy="448056"/>
          </a:xfrm>
          <a:prstGeom prst="rect">
            <a:avLst/>
          </a:prstGeom>
          <a:solidFill>
            <a:srgbClr val="F4F7F5"/>
          </a:solidFill>
          <a:ln w="12700">
            <a:solidFill>
              <a:srgbClr val="F4F7F5">
                <a:alpha val="0"/>
              </a:srgbClr>
            </a:solidFill>
            <a:prstDash val="solid"/>
          </a:ln>
        </p:spPr>
      </p:sp>
      <p:sp>
        <p:nvSpPr>
          <p:cNvPr id="24" name="Text 22"/>
          <p:cNvSpPr/>
          <p:nvPr/>
        </p:nvSpPr>
        <p:spPr>
          <a:xfrm>
            <a:off x="896112" y="3776472"/>
            <a:ext cx="2697480" cy="448056"/>
          </a:xfrm>
          <a:prstGeom prst="rect">
            <a:avLst/>
          </a:prstGeom>
          <a:noFill/>
          <a:ln/>
        </p:spPr>
        <p:txBody>
          <a:bodyPr wrap="square" lIns="0" tIns="0" rIns="0" bIns="0" rtlCol="0" anchor="ctr"/>
          <a:lstStyle/>
          <a:p>
            <a:pPr indent="0" marL="0">
              <a:buNone/>
            </a:pPr>
            <a:r>
              <a:rPr lang="en-US" sz="1250" dirty="0">
                <a:solidFill>
                  <a:srgbClr val="002B3D"/>
                </a:solidFill>
                <a:latin typeface="Segoe UI Semibold" pitchFamily="34" charset="0"/>
                <a:ea typeface="Segoe UI Semibold" pitchFamily="34" charset="-122"/>
                <a:cs typeface="Segoe UI Semibold" pitchFamily="34" charset="-120"/>
              </a:rPr>
              <a:t>Supplied examples</a:t>
            </a:r>
            <a:endParaRPr lang="en-US" sz="1250" dirty="0"/>
          </a:p>
        </p:txBody>
      </p:sp>
      <p:sp>
        <p:nvSpPr>
          <p:cNvPr id="25" name="Text 23"/>
          <p:cNvSpPr/>
          <p:nvPr/>
        </p:nvSpPr>
        <p:spPr>
          <a:xfrm>
            <a:off x="3703320" y="3776472"/>
            <a:ext cx="3593592" cy="448056"/>
          </a:xfrm>
          <a:prstGeom prst="rect">
            <a:avLst/>
          </a:prstGeom>
          <a:noFill/>
          <a:ln/>
        </p:spPr>
        <p:txBody>
          <a:bodyPr wrap="square" lIns="0" tIns="0" rIns="0" bIns="0" rtlCol="0" anchor="ctr"/>
          <a:lstStyle/>
          <a:p>
            <a:pPr indent="0" marL="0">
              <a:buNone/>
            </a:pPr>
            <a:r>
              <a:rPr lang="en-US" sz="1220" dirty="0">
                <a:solidFill>
                  <a:srgbClr val="002B3D"/>
                </a:solidFill>
                <a:latin typeface="Segoe UI" pitchFamily="34" charset="0"/>
                <a:ea typeface="Segoe UI" pitchFamily="34" charset="-122"/>
                <a:cs typeface="Segoe UI" pitchFamily="34" charset="-120"/>
              </a:rPr>
              <a:t>22/22 across evaluated fields</a:t>
            </a:r>
            <a:endParaRPr lang="en-US" sz="1220" dirty="0"/>
          </a:p>
        </p:txBody>
      </p:sp>
      <p:sp>
        <p:nvSpPr>
          <p:cNvPr id="26" name="Text 24"/>
          <p:cNvSpPr/>
          <p:nvPr/>
        </p:nvSpPr>
        <p:spPr>
          <a:xfrm>
            <a:off x="7415784" y="3776472"/>
            <a:ext cx="3904488" cy="448056"/>
          </a:xfrm>
          <a:prstGeom prst="rect">
            <a:avLst/>
          </a:prstGeom>
          <a:noFill/>
          <a:ln/>
        </p:spPr>
        <p:txBody>
          <a:bodyPr wrap="square" lIns="0" tIns="0" rIns="0" bIns="0" rtlCol="0" anchor="ctr"/>
          <a:lstStyle/>
          <a:p>
            <a:pPr indent="0" marL="0">
              <a:buNone/>
            </a:pPr>
            <a:r>
              <a:rPr lang="en-US" sz="1020" dirty="0">
                <a:solidFill>
                  <a:srgbClr val="536B76"/>
                </a:solidFill>
                <a:latin typeface="Segoe UI" pitchFamily="34" charset="0"/>
                <a:ea typeface="Segoe UI" pitchFamily="34" charset="-122"/>
                <a:cs typeface="Segoe UI" pitchFamily="34" charset="-120"/>
              </a:rPr>
              <a:t>artifacts/evaluation.json</a:t>
            </a:r>
            <a:endParaRPr lang="en-US" sz="1020" dirty="0"/>
          </a:p>
        </p:txBody>
      </p:sp>
      <p:sp>
        <p:nvSpPr>
          <p:cNvPr id="27" name="Shape 25"/>
          <p:cNvSpPr/>
          <p:nvPr/>
        </p:nvSpPr>
        <p:spPr>
          <a:xfrm>
            <a:off x="713232" y="4251960"/>
            <a:ext cx="10808208" cy="448056"/>
          </a:xfrm>
          <a:prstGeom prst="rect">
            <a:avLst/>
          </a:prstGeom>
          <a:solidFill>
            <a:srgbClr val="FFFFFF"/>
          </a:solidFill>
          <a:ln w="12700">
            <a:solidFill>
              <a:srgbClr val="FFFFFF">
                <a:alpha val="0"/>
              </a:srgbClr>
            </a:solidFill>
            <a:prstDash val="solid"/>
          </a:ln>
        </p:spPr>
      </p:sp>
      <p:sp>
        <p:nvSpPr>
          <p:cNvPr id="28" name="Text 26"/>
          <p:cNvSpPr/>
          <p:nvPr/>
        </p:nvSpPr>
        <p:spPr>
          <a:xfrm>
            <a:off x="896112" y="4251960"/>
            <a:ext cx="2697480" cy="448056"/>
          </a:xfrm>
          <a:prstGeom prst="rect">
            <a:avLst/>
          </a:prstGeom>
          <a:noFill/>
          <a:ln/>
        </p:spPr>
        <p:txBody>
          <a:bodyPr wrap="square" lIns="0" tIns="0" rIns="0" bIns="0" rtlCol="0" anchor="ctr"/>
          <a:lstStyle/>
          <a:p>
            <a:pPr indent="0" marL="0">
              <a:buNone/>
            </a:pPr>
            <a:r>
              <a:rPr lang="en-US" sz="1250" dirty="0">
                <a:solidFill>
                  <a:srgbClr val="002B3D"/>
                </a:solidFill>
                <a:latin typeface="Segoe UI Semibold" pitchFamily="34" charset="0"/>
                <a:ea typeface="Segoe UI Semibold" pitchFamily="34" charset="-122"/>
                <a:cs typeface="Segoe UI Semibold" pitchFamily="34" charset="-120"/>
              </a:rPr>
              <a:t>Live run sample</a:t>
            </a:r>
            <a:endParaRPr lang="en-US" sz="1250" dirty="0"/>
          </a:p>
        </p:txBody>
      </p:sp>
      <p:sp>
        <p:nvSpPr>
          <p:cNvPr id="29" name="Text 27"/>
          <p:cNvSpPr/>
          <p:nvPr/>
        </p:nvSpPr>
        <p:spPr>
          <a:xfrm>
            <a:off x="3703320" y="4251960"/>
            <a:ext cx="3593592" cy="448056"/>
          </a:xfrm>
          <a:prstGeom prst="rect">
            <a:avLst/>
          </a:prstGeom>
          <a:noFill/>
          <a:ln/>
        </p:spPr>
        <p:txBody>
          <a:bodyPr wrap="square" lIns="0" tIns="0" rIns="0" bIns="0" rtlCol="0" anchor="ctr"/>
          <a:lstStyle/>
          <a:p>
            <a:pPr indent="0" marL="0">
              <a:buNone/>
            </a:pPr>
            <a:r>
              <a:rPr lang="en-US" sz="1220" dirty="0">
                <a:solidFill>
                  <a:srgbClr val="002B3D"/>
                </a:solidFill>
                <a:latin typeface="Segoe UI" pitchFamily="34" charset="0"/>
                <a:ea typeface="Segoe UI" pitchFamily="34" charset="-122"/>
                <a:cs typeface="Segoe UI" pitchFamily="34" charset="-120"/>
              </a:rPr>
              <a:t>80/83 detected + quantity/unit correct</a:t>
            </a:r>
            <a:endParaRPr lang="en-US" sz="1220" dirty="0"/>
          </a:p>
        </p:txBody>
      </p:sp>
      <p:sp>
        <p:nvSpPr>
          <p:cNvPr id="30" name="Text 28"/>
          <p:cNvSpPr/>
          <p:nvPr/>
        </p:nvSpPr>
        <p:spPr>
          <a:xfrm>
            <a:off x="7415784" y="4251960"/>
            <a:ext cx="3904488" cy="448056"/>
          </a:xfrm>
          <a:prstGeom prst="rect">
            <a:avLst/>
          </a:prstGeom>
          <a:noFill/>
          <a:ln/>
        </p:spPr>
        <p:txBody>
          <a:bodyPr wrap="square" lIns="0" tIns="0" rIns="0" bIns="0" rtlCol="0" anchor="ctr"/>
          <a:lstStyle/>
          <a:p>
            <a:pPr indent="0" marL="0">
              <a:buNone/>
            </a:pPr>
            <a:r>
              <a:rPr lang="en-US" sz="1020" dirty="0">
                <a:solidFill>
                  <a:srgbClr val="536B76"/>
                </a:solidFill>
                <a:latin typeface="Segoe UI" pitchFamily="34" charset="0"/>
                <a:ea typeface="Segoe UI" pitchFamily="34" charset="-122"/>
                <a:cs typeface="Segoe UI" pitchFamily="34" charset="-120"/>
              </a:rPr>
              <a:t>artifacts/live-holdout-evaluation.json</a:t>
            </a:r>
            <a:endParaRPr lang="en-US" sz="1020" dirty="0"/>
          </a:p>
        </p:txBody>
      </p:sp>
      <p:sp>
        <p:nvSpPr>
          <p:cNvPr id="31" name="Shape 29"/>
          <p:cNvSpPr/>
          <p:nvPr/>
        </p:nvSpPr>
        <p:spPr>
          <a:xfrm>
            <a:off x="713232" y="4727448"/>
            <a:ext cx="10808208" cy="448056"/>
          </a:xfrm>
          <a:prstGeom prst="rect">
            <a:avLst/>
          </a:prstGeom>
          <a:solidFill>
            <a:srgbClr val="F4F7F5"/>
          </a:solidFill>
          <a:ln w="12700">
            <a:solidFill>
              <a:srgbClr val="F4F7F5">
                <a:alpha val="0"/>
              </a:srgbClr>
            </a:solidFill>
            <a:prstDash val="solid"/>
          </a:ln>
        </p:spPr>
      </p:sp>
      <p:sp>
        <p:nvSpPr>
          <p:cNvPr id="32" name="Text 30"/>
          <p:cNvSpPr/>
          <p:nvPr/>
        </p:nvSpPr>
        <p:spPr>
          <a:xfrm>
            <a:off x="896112" y="4727448"/>
            <a:ext cx="2697480" cy="448056"/>
          </a:xfrm>
          <a:prstGeom prst="rect">
            <a:avLst/>
          </a:prstGeom>
          <a:noFill/>
          <a:ln/>
        </p:spPr>
        <p:txBody>
          <a:bodyPr wrap="square" lIns="0" tIns="0" rIns="0" bIns="0" rtlCol="0" anchor="ctr"/>
          <a:lstStyle/>
          <a:p>
            <a:pPr indent="0" marL="0">
              <a:buNone/>
            </a:pPr>
            <a:r>
              <a:rPr lang="en-US" sz="1250" dirty="0">
                <a:solidFill>
                  <a:srgbClr val="002B3D"/>
                </a:solidFill>
                <a:latin typeface="Segoe UI Semibold" pitchFamily="34" charset="0"/>
                <a:ea typeface="Segoe UI Semibold" pitchFamily="34" charset="-122"/>
                <a:cs typeface="Segoe UI Semibold" pitchFamily="34" charset="-120"/>
              </a:rPr>
              <a:t>Golden example LV0001</a:t>
            </a:r>
            <a:endParaRPr lang="en-US" sz="1250" dirty="0"/>
          </a:p>
        </p:txBody>
      </p:sp>
      <p:sp>
        <p:nvSpPr>
          <p:cNvPr id="33" name="Text 31"/>
          <p:cNvSpPr/>
          <p:nvPr/>
        </p:nvSpPr>
        <p:spPr>
          <a:xfrm>
            <a:off x="3703320" y="4727448"/>
            <a:ext cx="3593592" cy="448056"/>
          </a:xfrm>
          <a:prstGeom prst="rect">
            <a:avLst/>
          </a:prstGeom>
          <a:noFill/>
          <a:ln/>
        </p:spPr>
        <p:txBody>
          <a:bodyPr wrap="square" lIns="0" tIns="0" rIns="0" bIns="0" rtlCol="0" anchor="ctr"/>
          <a:lstStyle/>
          <a:p>
            <a:pPr indent="0" marL="0">
              <a:buNone/>
            </a:pPr>
            <a:r>
              <a:rPr lang="en-US" sz="1220" dirty="0">
                <a:solidFill>
                  <a:srgbClr val="002B3D"/>
                </a:solidFill>
                <a:latin typeface="Segoe UI" pitchFamily="34" charset="0"/>
                <a:ea typeface="Segoe UI" pitchFamily="34" charset="-122"/>
                <a:cs typeface="Segoe UI" pitchFamily="34" charset="-120"/>
              </a:rPr>
              <a:t>CHF 806.26 direct position cost</a:t>
            </a:r>
            <a:endParaRPr lang="en-US" sz="1220" dirty="0"/>
          </a:p>
        </p:txBody>
      </p:sp>
      <p:sp>
        <p:nvSpPr>
          <p:cNvPr id="34" name="Text 32"/>
          <p:cNvSpPr/>
          <p:nvPr/>
        </p:nvSpPr>
        <p:spPr>
          <a:xfrm>
            <a:off x="7415784" y="4727448"/>
            <a:ext cx="3904488" cy="448056"/>
          </a:xfrm>
          <a:prstGeom prst="rect">
            <a:avLst/>
          </a:prstGeom>
          <a:noFill/>
          <a:ln/>
        </p:spPr>
        <p:txBody>
          <a:bodyPr wrap="square" lIns="0" tIns="0" rIns="0" bIns="0" rtlCol="0" anchor="ctr"/>
          <a:lstStyle/>
          <a:p>
            <a:pPr indent="0" marL="0">
              <a:buNone/>
            </a:pPr>
            <a:r>
              <a:rPr lang="en-US" sz="1020" dirty="0">
                <a:solidFill>
                  <a:srgbClr val="536B76"/>
                </a:solidFill>
                <a:latin typeface="Segoe UI" pitchFamily="34" charset="0"/>
                <a:ea typeface="Segoe UI" pitchFamily="34" charset="-122"/>
                <a:cs typeface="Segoe UI" pitchFamily="34" charset="-120"/>
              </a:rPr>
              <a:t>Starter package: expected_output_example.json</a:t>
            </a:r>
            <a:endParaRPr lang="en-US" sz="1020" dirty="0"/>
          </a:p>
        </p:txBody>
      </p:sp>
      <p:sp>
        <p:nvSpPr>
          <p:cNvPr id="35" name="Text 33"/>
          <p:cNvSpPr/>
          <p:nvPr/>
        </p:nvSpPr>
        <p:spPr>
          <a:xfrm>
            <a:off x="795528" y="5449824"/>
            <a:ext cx="10680192" cy="402336"/>
          </a:xfrm>
          <a:prstGeom prst="rect">
            <a:avLst/>
          </a:prstGeom>
          <a:noFill/>
          <a:ln/>
        </p:spPr>
        <p:txBody>
          <a:bodyPr wrap="square" lIns="0" tIns="0" rIns="0" bIns="0" rtlCol="0" anchor="ctr"/>
          <a:lstStyle/>
          <a:p>
            <a:pPr indent="0" marL="0">
              <a:buNone/>
            </a:pPr>
            <a:r>
              <a:rPr lang="en-US" sz="1500" dirty="0">
                <a:solidFill>
                  <a:srgbClr val="536B76"/>
                </a:solidFill>
                <a:latin typeface="Segoe UI" pitchFamily="34" charset="0"/>
                <a:ea typeface="Segoe UI" pitchFamily="34" charset="-122"/>
                <a:cs typeface="Segoe UI" pitchFamily="34" charset="-120"/>
              </a:rPr>
              <a:t>Prepared financial snapshot: 10 October 2026. Provisional prices; unresolved scope remains.</a:t>
            </a:r>
            <a:endParaRPr lang="en-US" sz="1500" dirty="0"/>
          </a:p>
        </p:txBody>
      </p:sp>
      <p:sp>
        <p:nvSpPr>
          <p:cNvPr id="36" name="Text 34"/>
          <p:cNvSpPr/>
          <p:nvPr/>
        </p:nvSpPr>
        <p:spPr>
          <a:xfrm>
            <a:off x="795528" y="5971032"/>
            <a:ext cx="10680192" cy="329184"/>
          </a:xfrm>
          <a:prstGeom prst="rect">
            <a:avLst/>
          </a:prstGeom>
          <a:noFill/>
          <a:ln/>
        </p:spPr>
        <p:txBody>
          <a:bodyPr wrap="square" lIns="0" tIns="0" rIns="0" bIns="0" rtlCol="0" anchor="ctr"/>
          <a:lstStyle/>
          <a:p>
            <a:pPr indent="0" marL="0">
              <a:buNone/>
            </a:pPr>
            <a:r>
              <a:rPr lang="en-US" sz="1700" dirty="0">
                <a:solidFill>
                  <a:srgbClr val="267654"/>
                </a:solidFill>
                <a:latin typeface="Segoe UI Semibold" pitchFamily="34" charset="0"/>
                <a:ea typeface="Segoe UI Semibold" pitchFamily="34" charset="-122"/>
                <a:cs typeface="Segoe UI Semibold" pitchFamily="34" charset="-120"/>
              </a:rPr>
              <a:t>The 55-second local draft and the live AI sample are separate runs.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BidGenius AI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BidGenius AI | A first price you can explain</dc:title>
  <dc:subject>Equans hackathon project pitch and presenter notes</dc:subject>
  <dc:creator>BidGenius AI</dc:creator>
  <cp:lastModifiedBy>BidGenius AI</cp:lastModifiedBy>
  <cp:revision>1</cp:revision>
  <dcterms:created xsi:type="dcterms:W3CDTF">2026-10-11T01:25:24Z</dcterms:created>
  <dcterms:modified xsi:type="dcterms:W3CDTF">2026-10-11T01:25:24Z</dcterms:modified>
</cp:coreProperties>
</file>